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1A5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3A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560320"/>
            <a:ext cx="12188952" cy="2011680"/>
          </a:xfrm>
          <a:prstGeom prst="rect">
            <a:avLst/>
          </a:prstGeom>
          <a:solidFill>
            <a:srgbClr val="F0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91440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0">
                <a:solidFill>
                  <a:srgbClr val="667788"/>
                </a:solidFill>
                <a:latin typeface="Hiragino Kaku Gothic ProN"/>
              </a:rPr>
              <a:t>AI導入に、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69164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1A1A2E"/>
                </a:solidFill>
                <a:latin typeface="Hiragino Kaku Gothic ProN"/>
              </a:rPr>
              <a:t>外注は必要ない。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83464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A5FBF"/>
                </a:solidFill>
                <a:latin typeface="Hiragino Kaku Gothic ProN"/>
              </a:rPr>
              <a:t>本質のClaude Code 完全攻略 7dayブートキャンプ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566160"/>
            <a:ext cx="10332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667788"/>
                </a:solidFill>
                <a:latin typeface="Hiragino Kaku Gothic ProN"/>
              </a:rPr>
              <a:t>7日間で、自社のAI活用を内製化する。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621792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0">
                <a:solidFill>
                  <a:srgbClr val="667788"/>
                </a:solidFill>
                <a:latin typeface="Hiragino Kaku Gothic ProN"/>
              </a:rPr>
              <a:t>アドネス株式会社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1A5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3A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1A1A2E"/>
                </a:solidFill>
                <a:latin typeface="Hiragino Kaku Gothic ProN"/>
              </a:rPr>
              <a:t>社内の繰り返し作業に、毎月いくらかかっていますか？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8229600" cy="1188720"/>
          </a:xfrm>
          <a:prstGeom prst="rect">
            <a:avLst/>
          </a:prstGeom>
          <a:solidFill>
            <a:srgbClr val="F0F5FF"/>
          </a:solidFill>
          <a:ln w="12700">
            <a:solidFill>
              <a:srgbClr val="B0C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2588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A1A2E"/>
                </a:solidFill>
                <a:latin typeface="Hiragino Kaku Gothic ProN"/>
              </a:rPr>
              <a:t>資料作成・メール対応・データ整理</a:t>
            </a:r>
          </a:p>
        </p:txBody>
      </p:sp>
      <p:sp>
        <p:nvSpPr>
          <p:cNvPr id="7" name="Rectangle 6"/>
          <p:cNvSpPr/>
          <p:nvPr/>
        </p:nvSpPr>
        <p:spPr>
          <a:xfrm>
            <a:off x="8961120" y="1188720"/>
            <a:ext cx="2743200" cy="1188720"/>
          </a:xfrm>
          <a:prstGeom prst="rect">
            <a:avLst/>
          </a:prstGeom>
          <a:solidFill>
            <a:srgbClr val="1A5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0" y="141732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Hiragino Kaku Gothic ProN"/>
              </a:rPr>
              <a:t>月30〜50時間の工数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651760"/>
            <a:ext cx="8229600" cy="1188720"/>
          </a:xfrm>
          <a:prstGeom prst="rect">
            <a:avLst/>
          </a:prstGeom>
          <a:solidFill>
            <a:srgbClr val="F0F5FF"/>
          </a:solidFill>
          <a:ln w="12700">
            <a:solidFill>
              <a:srgbClr val="B0C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78892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A1A2E"/>
                </a:solidFill>
                <a:latin typeface="Hiragino Kaku Gothic ProN"/>
              </a:rPr>
              <a:t>AI導入を検討しているが何から始めればいいか分からない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961120" y="2651760"/>
            <a:ext cx="2743200" cy="1188720"/>
          </a:xfrm>
          <a:prstGeom prst="rect">
            <a:avLst/>
          </a:prstGeom>
          <a:solidFill>
            <a:srgbClr val="1A5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0" y="288036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Hiragino Kaku Gothic ProN"/>
              </a:rPr>
              <a:t>機会損失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4114800"/>
            <a:ext cx="8229600" cy="1188720"/>
          </a:xfrm>
          <a:prstGeom prst="rect">
            <a:avLst/>
          </a:prstGeom>
          <a:solidFill>
            <a:srgbClr val="F0F5FF"/>
          </a:solidFill>
          <a:ln w="12700">
            <a:solidFill>
              <a:srgbClr val="B0C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425196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A1A2E"/>
                </a:solidFill>
                <a:latin typeface="Hiragino Kaku Gothic ProN"/>
              </a:rPr>
              <a:t>外注すると高い・社内に知識がない・誰に頼めばいいか
分からない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961120" y="4114800"/>
            <a:ext cx="2743200" cy="1188720"/>
          </a:xfrm>
          <a:prstGeom prst="rect">
            <a:avLst/>
          </a:prstGeom>
          <a:solidFill>
            <a:srgbClr val="1A5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0" y="434340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Hiragino Kaku Gothic ProN"/>
              </a:rPr>
              <a:t>コスト増大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603504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667788"/>
                </a:solidFill>
                <a:latin typeface="Hiragino Kaku Gothic ProN"/>
              </a:rPr>
              <a:t>「AIを入れたい」と思っているだけで、動けていない企業が多い。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1A5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3A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667788"/>
                </a:solidFill>
                <a:latin typeface="Hiragino Kaku Gothic ProN"/>
              </a:rPr>
              <a:t>Claude Codeとは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1A5FBF"/>
                </a:solidFill>
                <a:latin typeface="Hiragino Kaku Gothic ProN"/>
              </a:rPr>
              <a:t>日本語で動かせるAI開発ツール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2057400"/>
            <a:ext cx="9418320" cy="45720"/>
          </a:xfrm>
          <a:prstGeom prst="rect">
            <a:avLst/>
          </a:prstGeom>
          <a:solidFill>
            <a:srgbClr val="3A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2286000"/>
            <a:ext cx="3566160" cy="3200400"/>
          </a:xfrm>
          <a:prstGeom prst="rect">
            <a:avLst/>
          </a:prstGeom>
          <a:solidFill>
            <a:srgbClr val="F0F5FF"/>
          </a:solidFill>
          <a:ln w="12700">
            <a:solidFill>
              <a:srgbClr val="B0C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46888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A5FBF"/>
                </a:solidFill>
                <a:latin typeface="Hiragino Kaku Gothic ProN"/>
              </a:rPr>
              <a:t>プログラミング不要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200400"/>
            <a:ext cx="3291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1A1A2E"/>
                </a:solidFill>
                <a:latin typeface="Hiragino Kaku Gothic ProN"/>
              </a:rPr>
              <a:t>日本語で指示するだけで動く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89120" y="2286000"/>
            <a:ext cx="3566160" cy="3200400"/>
          </a:xfrm>
          <a:prstGeom prst="rect">
            <a:avLst/>
          </a:prstGeom>
          <a:solidFill>
            <a:srgbClr val="F0F5FF"/>
          </a:solidFill>
          <a:ln w="12700">
            <a:solidFill>
              <a:srgbClr val="B0C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80" y="246888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A5FBF"/>
                </a:solidFill>
                <a:latin typeface="Hiragino Kaku Gothic ProN"/>
              </a:rPr>
              <a:t>業務直結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3200400"/>
            <a:ext cx="3291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1A1A2E"/>
                </a:solidFill>
                <a:latin typeface="Hiragino Kaku Gothic ProN"/>
              </a:rPr>
              <a:t>実際の社内システムを
そのまま構築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0" y="2286000"/>
            <a:ext cx="3566160" cy="3200400"/>
          </a:xfrm>
          <a:prstGeom prst="rect">
            <a:avLst/>
          </a:prstGeom>
          <a:solidFill>
            <a:srgbClr val="F0F5FF"/>
          </a:solidFill>
          <a:ln w="12700">
            <a:solidFill>
              <a:srgbClr val="B0C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66760" y="246888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A5FBF"/>
                </a:solidFill>
                <a:latin typeface="Hiragino Kaku Gothic ProN"/>
              </a:rPr>
              <a:t>スピード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3200400"/>
            <a:ext cx="3291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1A1A2E"/>
                </a:solidFill>
                <a:latin typeface="Hiragino Kaku Gothic ProN"/>
              </a:rPr>
              <a:t>繰り返し作業を、24時間動くAIに任せられる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1A5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3A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667788"/>
                </a:solidFill>
                <a:latin typeface="Hiragino Kaku Gothic ProN"/>
              </a:rPr>
              <a:t>INSTRUCTOR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6858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>
                <a:solidFill>
                  <a:srgbClr val="1A5FBF"/>
                </a:solidFill>
                <a:latin typeface="Hiragino Kaku Gothic ProN"/>
              </a:rPr>
              <a:t>みかみ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667788"/>
                </a:solidFill>
                <a:latin typeface="Hiragino Kaku Gothic ProN"/>
              </a:rPr>
              <a:t>アドネス株式会社　代表取締役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240280"/>
            <a:ext cx="7498079" cy="45720"/>
          </a:xfrm>
          <a:prstGeom prst="rect">
            <a:avLst/>
          </a:prstGeom>
          <a:solidFill>
            <a:srgbClr val="3A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2423160"/>
            <a:ext cx="1097280" cy="640080"/>
          </a:xfrm>
          <a:prstGeom prst="rect">
            <a:avLst/>
          </a:prstGeom>
          <a:solidFill>
            <a:srgbClr val="1A5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2606040"/>
            <a:ext cx="1051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Hiragino Kaku Gothic ProN"/>
              </a:rPr>
              <a:t>規模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0" y="2514600"/>
            <a:ext cx="6035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A1A2E"/>
                </a:solidFill>
                <a:latin typeface="Hiragino Kaku Gothic ProN"/>
              </a:rPr>
              <a:t>東大在学中に起業 → AIで組織を最適化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337560"/>
            <a:ext cx="1097280" cy="640080"/>
          </a:xfrm>
          <a:prstGeom prst="rect">
            <a:avLst/>
          </a:prstGeom>
          <a:solidFill>
            <a:srgbClr val="1A5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3520440"/>
            <a:ext cx="1051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Hiragino Kaku Gothic ProN"/>
              </a:rPr>
              <a:t>実績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0" y="3429000"/>
            <a:ext cx="6035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A1A2E"/>
                </a:solidFill>
                <a:latin typeface="Hiragino Kaku Gothic ProN"/>
              </a:rPr>
              <a:t>創業5年で年商30億円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4251960"/>
            <a:ext cx="1097280" cy="640080"/>
          </a:xfrm>
          <a:prstGeom prst="rect">
            <a:avLst/>
          </a:prstGeom>
          <a:solidFill>
            <a:srgbClr val="1A5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4434840"/>
            <a:ext cx="1051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Hiragino Kaku Gothic ProN"/>
              </a:rPr>
              <a:t>影響力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0" y="4343400"/>
            <a:ext cx="6035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A1A2E"/>
                </a:solidFill>
                <a:latin typeface="Hiragino Kaku Gothic ProN"/>
              </a:rPr>
              <a:t>AI月商5億・SNS総フォロワー31万人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5166360"/>
            <a:ext cx="1097280" cy="640080"/>
          </a:xfrm>
          <a:prstGeom prst="rect">
            <a:avLst/>
          </a:prstGeom>
          <a:solidFill>
            <a:srgbClr val="1A5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5349240"/>
            <a:ext cx="1051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Hiragino Kaku Gothic ProN"/>
              </a:rPr>
              <a:t>信頼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0" y="5257800"/>
            <a:ext cx="6035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A1A2E"/>
                </a:solidFill>
                <a:latin typeface="Hiragino Kaku Gothic ProN"/>
              </a:rPr>
              <a:t>受講生6,000名以上「スキルプラス」運営</a:t>
            </a:r>
          </a:p>
        </p:txBody>
      </p:sp>
      <p:pic>
        <p:nvPicPr>
          <p:cNvPr id="20" name="Picture 19" descr="mikami-profile-normaliz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5440" y="502920"/>
            <a:ext cx="27432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1A5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3A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667788"/>
                </a:solidFill>
                <a:latin typeface="Hiragino Kaku Gothic ProN"/>
              </a:rPr>
              <a:t>INSTRUCTOR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6858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>
                <a:solidFill>
                  <a:srgbClr val="1A5FBF"/>
                </a:solidFill>
                <a:latin typeface="Hiragino Kaku Gothic ProN"/>
              </a:rPr>
              <a:t>佐藤将司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667788"/>
                </a:solidFill>
                <a:latin typeface="Hiragino Kaku Gothic ProN"/>
              </a:rPr>
              <a:t>アドネス株式会社　AI事業責任者 / AIコンサルタント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240280"/>
            <a:ext cx="7498079" cy="45720"/>
          </a:xfrm>
          <a:prstGeom prst="rect">
            <a:avLst/>
          </a:prstGeom>
          <a:solidFill>
            <a:srgbClr val="3A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2423160"/>
            <a:ext cx="1097280" cy="640080"/>
          </a:xfrm>
          <a:prstGeom prst="rect">
            <a:avLst/>
          </a:prstGeom>
          <a:solidFill>
            <a:srgbClr val="1A5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2606040"/>
            <a:ext cx="1051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Hiragino Kaku Gothic ProN"/>
              </a:rPr>
              <a:t>実績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0" y="2514600"/>
            <a:ext cx="6035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1A1A2E"/>
                </a:solidFill>
                <a:latin typeface="Hiragino Kaku Gothic ProN"/>
              </a:rPr>
              <a:t>Claude Codeで100以上のシステムを構築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337560"/>
            <a:ext cx="1097280" cy="640080"/>
          </a:xfrm>
          <a:prstGeom prst="rect">
            <a:avLst/>
          </a:prstGeom>
          <a:solidFill>
            <a:srgbClr val="1A5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3520440"/>
            <a:ext cx="1051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Hiragino Kaku Gothic ProN"/>
              </a:rPr>
              <a:t>自動化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0" y="3429000"/>
            <a:ext cx="6035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1A1A2E"/>
                </a:solidFill>
                <a:latin typeface="Hiragino Kaku Gothic ProN"/>
              </a:rPr>
              <a:t>月間300本の講義動画を自動制作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4251960"/>
            <a:ext cx="1097280" cy="640080"/>
          </a:xfrm>
          <a:prstGeom prst="rect">
            <a:avLst/>
          </a:prstGeom>
          <a:solidFill>
            <a:srgbClr val="1A5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4434840"/>
            <a:ext cx="1051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Hiragino Kaku Gothic ProN"/>
              </a:rPr>
              <a:t>単価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76095" y="4297680"/>
            <a:ext cx="6035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0">
                <a:solidFill>
                  <a:srgbClr val="1A1A2E"/>
                </a:solidFill>
                <a:latin typeface="Hiragino Kaku Gothic ProN"/>
              </a:rPr>
              <a:t>法人AIコンサル：月額50万〜200万円で複数社と
契約中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5166360"/>
            <a:ext cx="1097280" cy="640080"/>
          </a:xfrm>
          <a:prstGeom prst="rect">
            <a:avLst/>
          </a:prstGeom>
          <a:solidFill>
            <a:srgbClr val="1A5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5349240"/>
            <a:ext cx="1051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Hiragino Kaku Gothic ProN"/>
              </a:rPr>
              <a:t>生産性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0" y="5257800"/>
            <a:ext cx="6035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1A1A2E"/>
                </a:solidFill>
                <a:latin typeface="Hiragino Kaku Gothic ProN"/>
              </a:rPr>
              <a:t>初月売上4,500万円を突破（4人で達成）</a:t>
            </a:r>
          </a:p>
        </p:txBody>
      </p:sp>
      <p:pic>
        <p:nvPicPr>
          <p:cNvPr id="20" name="Picture 19" descr="sato-profile-normaliz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5440" y="502920"/>
            <a:ext cx="27432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1A5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3A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1A1A2E"/>
                </a:solidFill>
                <a:latin typeface="Hiragino Kaku Gothic ProN"/>
              </a:rPr>
              <a:t>7日間の集中プログラム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97280"/>
            <a:ext cx="640080" cy="1371600"/>
          </a:xfrm>
          <a:prstGeom prst="rect">
            <a:avLst/>
          </a:prstGeom>
          <a:solidFill>
            <a:srgbClr val="1A5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76072" y="1463040"/>
            <a:ext cx="594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Hiragino Kaku Gothic ProN"/>
              </a:rPr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1097280"/>
            <a:ext cx="10241280" cy="1371600"/>
          </a:xfrm>
          <a:prstGeom prst="rect">
            <a:avLst/>
          </a:prstGeom>
          <a:solidFill>
            <a:srgbClr val="F0F5FF"/>
          </a:solidFill>
          <a:ln w="12700">
            <a:solidFill>
              <a:srgbClr val="B0C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54480" y="118872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A5FBF"/>
                </a:solidFill>
                <a:latin typeface="Hiragino Kaku Gothic ProN"/>
              </a:rPr>
              <a:t>予習期間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69164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2E"/>
                </a:solidFill>
                <a:latin typeface="Hiragino Kaku Gothic ProN"/>
              </a:rPr>
              <a:t>講義動画＋アクションマップで自分のペースで学ぶ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141732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667788"/>
                </a:solidFill>
                <a:latin typeface="Hiragino Kaku Gothic ProN"/>
              </a:rPr>
              <a:t>コミュニティで質問し放題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834640"/>
            <a:ext cx="640080" cy="1371600"/>
          </a:xfrm>
          <a:prstGeom prst="rect">
            <a:avLst/>
          </a:prstGeom>
          <a:solidFill>
            <a:srgbClr val="1A5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76072" y="3200400"/>
            <a:ext cx="594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Hiragino Kaku Gothic ProN"/>
              </a:rPr>
              <a:t>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71600" y="2834640"/>
            <a:ext cx="10241280" cy="1371600"/>
          </a:xfrm>
          <a:prstGeom prst="rect">
            <a:avLst/>
          </a:prstGeom>
          <a:solidFill>
            <a:srgbClr val="F0F5FF"/>
          </a:solidFill>
          <a:ln w="12700">
            <a:solidFill>
              <a:srgbClr val="B0C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554480" y="292608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A5FBF"/>
                </a:solidFill>
                <a:latin typeface="Hiragino Kaku Gothic ProN"/>
              </a:rPr>
              <a:t>ブートキャンプ週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342900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2E"/>
                </a:solidFill>
                <a:latin typeface="Hiragino Kaku Gothic ProN"/>
              </a:rPr>
              <a:t>月・水・金・土　各2時間（21時〜）の集中作業セッション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315468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667788"/>
                </a:solidFill>
                <a:latin typeface="Hiragino Kaku Gothic ProN"/>
              </a:rPr>
              <a:t>全4回・オンライン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572000"/>
            <a:ext cx="640080" cy="1371600"/>
          </a:xfrm>
          <a:prstGeom prst="rect">
            <a:avLst/>
          </a:prstGeom>
          <a:solidFill>
            <a:srgbClr val="1A5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76072" y="4937760"/>
            <a:ext cx="594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Hiragino Kaku Gothic ProN"/>
              </a:rPr>
              <a:t>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371600" y="4572000"/>
            <a:ext cx="10241280" cy="1371600"/>
          </a:xfrm>
          <a:prstGeom prst="rect">
            <a:avLst/>
          </a:prstGeom>
          <a:solidFill>
            <a:srgbClr val="F0F5FF"/>
          </a:solidFill>
          <a:ln w="12700">
            <a:solidFill>
              <a:srgbClr val="B0C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554480" y="466344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A5FBF"/>
                </a:solidFill>
                <a:latin typeface="Hiragino Kaku Gothic ProN"/>
              </a:rPr>
              <a:t>補講期間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516636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2E"/>
                </a:solidFill>
                <a:latin typeface="Hiragino Kaku Gothic ProN"/>
              </a:rPr>
              <a:t>ブートキャンプ後1ヶ月間、コミュニティで質問し放題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489204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667788"/>
                </a:solidFill>
                <a:latin typeface="Hiragino Kaku Gothic ProN"/>
              </a:rPr>
              <a:t>アーカイブ動画あり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1A5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3A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1A1A2E"/>
                </a:solidFill>
                <a:latin typeface="Hiragino Kaku Gothic ProN"/>
              </a:rPr>
              <a:t>7日間で習得できる、実務直結のスキル</a:t>
            </a:r>
          </a:p>
        </p:txBody>
      </p:sp>
      <p:pic>
        <p:nvPicPr>
          <p:cNvPr id="5" name="Picture 4" descr="actionmap-kensakujidoka-normaliz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914400"/>
            <a:ext cx="3657600" cy="20574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02920" y="3063240"/>
            <a:ext cx="3657600" cy="502920"/>
          </a:xfrm>
          <a:prstGeom prst="rect">
            <a:avLst/>
          </a:prstGeom>
          <a:solidFill>
            <a:srgbClr val="1A5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3090672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Hiragino Kaku Gothic ProN"/>
              </a:rPr>
              <a:t>案件探索 自動化  [時間削減]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3657600"/>
            <a:ext cx="3657600" cy="2011680"/>
          </a:xfrm>
          <a:prstGeom prst="rect">
            <a:avLst/>
          </a:prstGeom>
          <a:solidFill>
            <a:srgbClr val="F0F5FF"/>
          </a:solidFill>
          <a:ln w="12700">
            <a:solidFill>
              <a:srgbClr val="B0C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794760"/>
            <a:ext cx="33832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1A1A2E"/>
                </a:solidFill>
                <a:latin typeface="Hiragino Kaku Gothic ProN"/>
              </a:rPr>
              <a:t>外注不要
営業前に候補が集まる</a:t>
            </a:r>
          </a:p>
        </p:txBody>
      </p:sp>
      <p:pic>
        <p:nvPicPr>
          <p:cNvPr id="10" name="Picture 9" descr="actionmap-slide-seisaku-normaliz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7407" y="914400"/>
            <a:ext cx="3657600" cy="205740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4407407" y="3063240"/>
            <a:ext cx="3657600" cy="502920"/>
          </a:xfrm>
          <a:prstGeom prst="rect">
            <a:avLst/>
          </a:prstGeom>
          <a:solidFill>
            <a:srgbClr val="1A5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98847" y="3090672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Hiragino Kaku Gothic ProN"/>
              </a:rPr>
              <a:t>スライド 制作  [工数削減]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07407" y="3657600"/>
            <a:ext cx="3657600" cy="2011680"/>
          </a:xfrm>
          <a:prstGeom prst="rect">
            <a:avLst/>
          </a:prstGeom>
          <a:solidFill>
            <a:srgbClr val="F0F5FF"/>
          </a:solidFill>
          <a:ln w="12700">
            <a:solidFill>
              <a:srgbClr val="B0C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44567" y="3794760"/>
            <a:ext cx="33832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1A1A2E"/>
                </a:solidFill>
                <a:latin typeface="Hiragino Kaku Gothic ProN"/>
              </a:rPr>
              <a:t>提案資料を
半自動で作れる</a:t>
            </a:r>
          </a:p>
        </p:txBody>
      </p:sp>
      <p:pic>
        <p:nvPicPr>
          <p:cNvPr id="15" name="Picture 14" descr="actionmap-system-kaihatsu-normaliz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11894" y="914400"/>
            <a:ext cx="3657600" cy="205740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8311894" y="3063240"/>
            <a:ext cx="3657600" cy="502920"/>
          </a:xfrm>
          <a:prstGeom prst="rect">
            <a:avLst/>
          </a:prstGeom>
          <a:solidFill>
            <a:srgbClr val="1A5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03334" y="3090672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Hiragino Kaku Gothic ProN"/>
              </a:rPr>
              <a:t>システム 開発  [外注費削減]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311894" y="3657600"/>
            <a:ext cx="3657600" cy="2011680"/>
          </a:xfrm>
          <a:prstGeom prst="rect">
            <a:avLst/>
          </a:prstGeom>
          <a:solidFill>
            <a:srgbClr val="F0F5FF"/>
          </a:solidFill>
          <a:ln w="12700">
            <a:solidFill>
              <a:srgbClr val="B0C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49054" y="3794760"/>
            <a:ext cx="33832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1A1A2E"/>
                </a:solidFill>
                <a:latin typeface="Hiragino Kaku Gothic ProN"/>
              </a:rPr>
              <a:t>業務改善ツールを
AIで内製化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621792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A5FBF"/>
                </a:solidFill>
                <a:latin typeface="Hiragino Kaku Gothic ProN"/>
              </a:rPr>
              <a:t>全13テーマ収録。社内12種のシステムがそのまま手に入ります。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1A5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3A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1A5FBF"/>
                </a:solidFill>
                <a:latin typeface="Hiragino Kaku Gothic ProN"/>
              </a:rPr>
              <a:t>実績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3566160" cy="4114800"/>
          </a:xfrm>
          <a:prstGeom prst="rect">
            <a:avLst/>
          </a:prstGeom>
          <a:solidFill>
            <a:srgbClr val="F0F5FF"/>
          </a:solidFill>
          <a:ln w="12700">
            <a:solidFill>
              <a:srgbClr val="B0C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188720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667788"/>
                </a:solidFill>
                <a:latin typeface="Hiragino Kaku Gothic ProN"/>
              </a:rPr>
              <a:t>月間300本の動画を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828800"/>
            <a:ext cx="3291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1A5FBF"/>
                </a:solidFill>
                <a:latin typeface="Hiragino Kaku Gothic ProN"/>
              </a:rPr>
              <a:t>4人で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017520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667788"/>
                </a:solidFill>
                <a:latin typeface="Hiragino Kaku Gothic ProN"/>
              </a:rPr>
              <a:t>自動制作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1005840"/>
            <a:ext cx="3566160" cy="4114800"/>
          </a:xfrm>
          <a:prstGeom prst="rect">
            <a:avLst/>
          </a:prstGeom>
          <a:solidFill>
            <a:srgbClr val="F0F5FF"/>
          </a:solidFill>
          <a:ln w="12700">
            <a:solidFill>
              <a:srgbClr val="B0C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34840" y="1188720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667788"/>
                </a:solidFill>
                <a:latin typeface="Hiragino Kaku Gothic ProN"/>
              </a:rPr>
              <a:t>法人AIコンサル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34840" y="1828800"/>
            <a:ext cx="3291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1A5FBF"/>
                </a:solidFill>
                <a:latin typeface="Hiragino Kaku Gothic ProN"/>
              </a:rPr>
              <a:t>月額50〜
200万円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3291840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667788"/>
                </a:solidFill>
                <a:latin typeface="Hiragino Kaku Gothic ProN"/>
              </a:rPr>
              <a:t>で複数社と契約中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38160" y="1005840"/>
            <a:ext cx="3566160" cy="4114800"/>
          </a:xfrm>
          <a:prstGeom prst="rect">
            <a:avLst/>
          </a:prstGeom>
          <a:solidFill>
            <a:srgbClr val="F0F5FF"/>
          </a:solidFill>
          <a:ln w="12700">
            <a:solidFill>
              <a:srgbClr val="B0C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75320" y="1188720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667788"/>
                </a:solidFill>
                <a:latin typeface="Hiragino Kaku Gothic ProN"/>
              </a:rPr>
              <a:t>初月売上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20" y="1828800"/>
            <a:ext cx="3291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1A5FBF"/>
                </a:solidFill>
                <a:latin typeface="Hiragino Kaku Gothic ProN"/>
              </a:rPr>
              <a:t>4,500万円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20" y="3017520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667788"/>
                </a:solidFill>
                <a:latin typeface="Hiragino Kaku Gothic ProN"/>
              </a:rPr>
              <a:t>を突破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4864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A1A2E"/>
                </a:solidFill>
                <a:latin typeface="Hiragino Kaku Gothic ProN"/>
              </a:rPr>
              <a:t>「机上の空論ではなく、現役で稼ぎ続けている人間が教える」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1A5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3A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667788"/>
                </a:solidFill>
                <a:latin typeface="Hiragino Kaku Gothic ProN"/>
              </a:rPr>
              <a:t>投資対効果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05840"/>
            <a:ext cx="5120640" cy="4389120"/>
          </a:xfrm>
          <a:prstGeom prst="rect">
            <a:avLst/>
          </a:prstGeom>
          <a:solidFill>
            <a:srgbClr val="F0F5FF"/>
          </a:solidFill>
          <a:ln w="12700">
            <a:solidFill>
              <a:srgbClr val="B0C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143000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667788"/>
                </a:solidFill>
                <a:latin typeface="Hiragino Kaku Gothic ProN"/>
              </a:rPr>
              <a:t>法人AIコンサル外注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CC2222"/>
                </a:solidFill>
                <a:latin typeface="Hiragino Kaku Gothic ProN"/>
              </a:rPr>
              <a:t>月50〜200万円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26080"/>
            <a:ext cx="4754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667788"/>
                </a:solidFill>
                <a:latin typeface="Hiragino Kaku Gothic ProN"/>
              </a:rPr>
              <a:t>× 継続コスト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06440" y="2743200"/>
            <a:ext cx="822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1A5FBF"/>
                </a:solidFill>
                <a:latin typeface="Hiragino Kaku Gothic ProN"/>
              </a:rPr>
              <a:t>VS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766560" y="1005840"/>
            <a:ext cx="5120640" cy="4389120"/>
          </a:xfrm>
          <a:prstGeom prst="rect">
            <a:avLst/>
          </a:prstGeom>
          <a:solidFill>
            <a:srgbClr val="F0F5FF"/>
          </a:solidFill>
          <a:ln w="25400">
            <a:solidFill>
              <a:srgbClr val="1A5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0" y="1143000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A5FBF"/>
                </a:solidFill>
                <a:latin typeface="Hiragino Kaku Gothic ProN"/>
              </a:rPr>
              <a:t>このブートキャンプ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0" y="1828800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1A8A3A"/>
                </a:solidFill>
                <a:latin typeface="Hiragino Kaku Gothic ProN"/>
              </a:rPr>
              <a:t>198,000円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0" y="2926080"/>
            <a:ext cx="4754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1A5FBF"/>
                </a:solidFill>
                <a:latin typeface="Hiragino Kaku Gothic ProN"/>
              </a:rPr>
              <a:t>× 買い切り・内製化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66928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1A1A2E"/>
                </a:solidFill>
                <a:latin typeface="Hiragino Kaku Gothic ProN"/>
              </a:rPr>
              <a:t>1日あたり251円。社員1人のAIスキルに投資する価値。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1A5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3A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A1A2E"/>
                </a:solidFill>
                <a:latin typeface="Hiragino Kaku Gothic ProN"/>
              </a:rPr>
              <a:t>自社のAI活用を、7日間で内製化する。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1828800"/>
            <a:ext cx="9418320" cy="45720"/>
          </a:xfrm>
          <a:prstGeom prst="rect">
            <a:avLst/>
          </a:prstGeom>
          <a:solidFill>
            <a:srgbClr val="1A5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>
                <a:solidFill>
                  <a:srgbClr val="1A5FBF"/>
                </a:solidFill>
                <a:latin typeface="Hiragino Kaku Gothic ProN"/>
              </a:rPr>
              <a:t>本質のClaude Code 完全攻略 7dayブートキャンプ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0" y="3017520"/>
            <a:ext cx="8503920" cy="1371600"/>
          </a:xfrm>
          <a:prstGeom prst="rect">
            <a:avLst/>
          </a:prstGeom>
          <a:solidFill>
            <a:srgbClr val="1A5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011680" y="3337560"/>
            <a:ext cx="81381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Hiragino Kaku Gothic ProN"/>
              </a:rPr>
              <a:t>お申し込みはこちら 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6344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667788"/>
                </a:solidFill>
                <a:latin typeface="Hiragino Kaku Gothic ProN"/>
              </a:rPr>
              <a:t>198,000円（税抜）　月々 7,532円〜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48640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1A1A2E"/>
                </a:solidFill>
                <a:latin typeface="Hiragino Kaku Gothic ProN"/>
              </a:rPr>
              <a:t>まずは7日間でAI活用の手応えをつかんでください。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
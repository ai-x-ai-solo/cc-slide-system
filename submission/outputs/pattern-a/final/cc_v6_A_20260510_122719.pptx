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888899"/>
                </a:solidFill>
                <a:latin typeface="Hiragino Kaku Gothic ProN"/>
              </a:rPr>
              <a:t>7日で、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Hiragino Kaku Gothic ProN"/>
              </a:rPr>
              <a:t>月10万円案件を狙えるスキルへ。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977639"/>
            <a:ext cx="8503920" cy="36576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99"/>
                </a:solidFill>
                <a:latin typeface="Hiragino Kaku Gothic ProN"/>
              </a:rPr>
              <a:t>本質のClaude Code 完全攻略 7dayブートキャンプ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888899"/>
                </a:solidFill>
                <a:latin typeface="Hiragino Kaku Gothic ProN"/>
              </a:rPr>
              <a:t>アドネス株式会社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888899"/>
                </a:solidFill>
                <a:latin typeface="Hiragino Kaku Gothic ProN"/>
              </a:rPr>
              <a:t>毎日同じ作業を繰り返していませんか？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457200" cy="82296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0D0D"/>
                </a:solidFill>
                <a:latin typeface="Hiragino Kaku Gothic ProN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8988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Hiragino Kaku Gothic ProN"/>
              </a:rPr>
              <a:t>資料作成に毎回2〜3時間かかっている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457200" cy="82296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60320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0D0D"/>
                </a:solidFill>
                <a:latin typeface="Hiragino Kaku Gothic Pro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7860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Hiragino Kaku Gothic ProN"/>
              </a:rPr>
              <a:t>同じメールを少しだけ変えて何度も送っている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457200" cy="82296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749040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0D0D"/>
                </a:solidFill>
                <a:latin typeface="Hiragino Kaku Gothic ProN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673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Hiragino Kaku Gothic ProN"/>
              </a:rPr>
              <a:t>副業を始めたいが、何のスキルを身につければいいか分からない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46320"/>
            <a:ext cx="457200" cy="82296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937760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0D0D"/>
                </a:solidFill>
                <a:latin typeface="Hiragino Kaku Gothic ProN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5604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Hiragino Kaku Gothic ProN"/>
              </a:rPr>
              <a:t>「これ、誰でもできる作業だよな」と感じながら続けている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Hiragino Kaku Gothic ProN"/>
              </a:rPr>
              <a:t>AI格差は、今この瞬間も広がっています。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303520" cy="4572000"/>
          </a:xfrm>
          <a:prstGeom prst="rect">
            <a:avLst/>
          </a:prstGeom>
          <a:solidFill>
            <a:srgbClr val="1A0D2E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88899"/>
                </a:solidFill>
                <a:latin typeface="Hiragino Kaku Gothic ProN"/>
              </a:rPr>
              <a:t>AIを使えない人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88899"/>
                </a:solidFill>
                <a:latin typeface="Hiragino Kaku Gothic ProN"/>
              </a:rPr>
              <a:t>✗  手作業・繰り返し作業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88899"/>
                </a:solidFill>
                <a:latin typeface="Hiragino Kaku Gothic ProN"/>
              </a:rPr>
              <a:t>✗  月収は横ばい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88899"/>
                </a:solidFill>
                <a:latin typeface="Hiragino Kaku Gothic ProN"/>
              </a:rPr>
              <a:t>✗  スキルが身につかない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92608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AA66FF"/>
                </a:solidFill>
                <a:latin typeface="Hiragino Kaku Gothic ProN"/>
              </a:rPr>
              <a:t>VS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143000"/>
            <a:ext cx="5303520" cy="4572000"/>
          </a:xfrm>
          <a:prstGeom prst="rect">
            <a:avLst/>
          </a:prstGeom>
          <a:solidFill>
            <a:srgbClr val="1A0D2E"/>
          </a:solidFill>
          <a:ln w="254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2801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2FFF"/>
                </a:solidFill>
                <a:latin typeface="Hiragino Kaku Gothic ProN"/>
              </a:rPr>
              <a:t>AIを使いこなす人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202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Hiragino Kaku Gothic ProN"/>
              </a:rPr>
              <a:t>✓  作業を自動化して時間を生む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7432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Hiragino Kaku Gothic ProN"/>
              </a:rPr>
              <a:t>✓  月10万円以上の案件を獲得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56616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Hiragino Kaku Gothic ProN"/>
              </a:rPr>
              <a:t>✓  スキルで選ばれる側になる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66FF"/>
                </a:solidFill>
                <a:latin typeface="Hiragino Kaku Gothic ProN"/>
              </a:rPr>
              <a:t>→ 差がつくのは「知っているかどうか」だけ。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99"/>
                </a:solidFill>
                <a:latin typeface="Hiragino Kaku Gothic ProN"/>
              </a:rPr>
              <a:t>Claude Codeを使いこなしている日本人は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0">
                <a:solidFill>
                  <a:srgbClr val="888899"/>
                </a:solidFill>
                <a:latin typeface="Hiragino Kaku Gothic ProN"/>
              </a:rPr>
              <a:t>推定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7315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>
                <a:solidFill>
                  <a:srgbClr val="7B2FFF"/>
                </a:solidFill>
                <a:latin typeface="Hiragino Kaku Gothic ProN"/>
              </a:rPr>
              <a:t>0.1%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005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888899"/>
                </a:solidFill>
                <a:latin typeface="Hiragino Kaku Gothic ProN"/>
              </a:rPr>
              <a:t>未満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834640"/>
            <a:ext cx="9418320" cy="36576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Hiragino Kaku Gothic ProN"/>
              </a:rPr>
              <a:t>今から始めれば、あなたは「使いこなせる側」になれます。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A66FF"/>
                </a:solidFill>
                <a:latin typeface="Hiragino Kaku Gothic ProN"/>
              </a:rPr>
              <a:t>Claude Codeは日本語で動きます。プログラミングは不要。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888899"/>
                </a:solidFill>
                <a:latin typeface="Hiragino Kaku Gothic ProN"/>
              </a:rPr>
              <a:t>→ 早い者勝ちのスキル。今が、最後のタイミングかもしれない。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99"/>
                </a:solidFill>
                <a:latin typeface="Hiragino Kaku Gothic ProN"/>
              </a:rPr>
              <a:t>INSTRUCTOR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7B2FFF"/>
                </a:solidFill>
                <a:latin typeface="Hiragino Kaku Gothic ProN"/>
              </a:rPr>
              <a:t>みかみ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88899"/>
                </a:solidFill>
                <a:latin typeface="Hiragino Kaku Gothic ProN"/>
              </a:rPr>
              <a:t>アドネス株式会社　代表取締役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7498079" cy="4572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1005840" cy="64008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1460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0D0D"/>
                </a:solidFill>
                <a:latin typeface="Hiragino Kaku Gothic ProN"/>
              </a:rPr>
              <a:t>規模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51460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Hiragino Kaku Gothic ProN"/>
              </a:rPr>
              <a:t>東大在学中に起業 → AIで組織を最適化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1005840" cy="64008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42900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0D0D"/>
                </a:solidFill>
                <a:latin typeface="Hiragino Kaku Gothic ProN"/>
              </a:rPr>
              <a:t>実績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42900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Hiragino Kaku Gothic ProN"/>
              </a:rPr>
              <a:t>AIで月商5億円を達成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51960"/>
            <a:ext cx="1005840" cy="64008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4340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0D0D"/>
                </a:solidFill>
                <a:latin typeface="Hiragino Kaku Gothic ProN"/>
              </a:rPr>
              <a:t>信頼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34340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Hiragino Kaku Gothic ProN"/>
              </a:rPr>
              <a:t>スキルプラス受講生 6,000名以上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25780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Hiragino Kaku Gothic ProN"/>
              </a:rPr>
              <a:t>「実際の事業でAIを使い続けている側」</a:t>
            </a:r>
          </a:p>
        </p:txBody>
      </p:sp>
      <p:pic>
        <p:nvPicPr>
          <p:cNvPr id="18" name="Picture 17" descr="mikami-profile-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5029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88899"/>
                </a:solidFill>
                <a:latin typeface="Hiragino Kaku Gothic ProN"/>
              </a:rPr>
              <a:t>INSTRUCTOR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7B2FFF"/>
                </a:solidFill>
                <a:latin typeface="Hiragino Kaku Gothic ProN"/>
              </a:rPr>
              <a:t>佐藤将司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88899"/>
                </a:solidFill>
                <a:latin typeface="Hiragino Kaku Gothic ProN"/>
              </a:rPr>
              <a:t>アドネス株式会社　AI事業責任者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7498079" cy="4572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888899"/>
                </a:solidFill>
                <a:latin typeface="Hiragino Kaku Gothic ProN"/>
              </a:rPr>
              <a:t>元・公務員（月給12万円）／プログラミング経験ゼロ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Hiragino Kaku Gothic ProN"/>
              </a:rPr>
              <a:t>↓　Claude Codeで100以上のシステムを構築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Hiragino Kaku Gothic ProN"/>
              </a:rPr>
              <a:t>↓　営業初月　1,000万円案件を獲得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B2FFF"/>
                </a:solidFill>
                <a:latin typeface="Hiragino Kaku Gothic ProN"/>
              </a:rPr>
              <a:t>↓　AIで月4,500万円規模の事業を運営</a:t>
            </a:r>
          </a:p>
        </p:txBody>
      </p:sp>
      <p:pic>
        <p:nvPicPr>
          <p:cNvPr id="12" name="Picture 11" descr="sato-profile-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5029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888899"/>
                </a:solidFill>
                <a:latin typeface="Hiragino Kaku Gothic ProN"/>
              </a:rPr>
              <a:t>Claude Code ブートキャンプ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>
                <a:solidFill>
                  <a:srgbClr val="7B2FFF"/>
                </a:solidFill>
                <a:latin typeface="Hiragino Kaku Gothic ProN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Hiragino Kaku Gothic ProN"/>
              </a:rPr>
              <a:t>DAYS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4754880"/>
            <a:ext cx="7589520" cy="4572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Hiragino Kaku Gothic ProN"/>
              </a:rPr>
              <a:t>✓ 未経験OK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937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Hiragino Kaku Gothic ProN"/>
              </a:rPr>
              <a:t>✓ 日本語で操作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937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Hiragino Kaku Gothic ProN"/>
              </a:rPr>
              <a:t>✓ 実践型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4937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Hiragino Kaku Gothic ProN"/>
              </a:rPr>
              <a:t>✓ その場で完成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iragino Kaku Gothic ProN"/>
              </a:rPr>
              <a:t>受講後、こんなことができるようになります</a:t>
            </a:r>
          </a:p>
        </p:txBody>
      </p:sp>
      <p:pic>
        <p:nvPicPr>
          <p:cNvPr id="5" name="Picture 4" descr="actionmap-kensakujidoka-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3657600" cy="2057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3063240"/>
            <a:ext cx="3657600" cy="5486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09067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0D0D"/>
                </a:solidFill>
                <a:latin typeface="Hiragino Kaku Gothic ProN"/>
              </a:rPr>
              <a:t>案件探索 自動化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657600"/>
            <a:ext cx="3657600" cy="2011680"/>
          </a:xfrm>
          <a:prstGeom prst="rect">
            <a:avLst/>
          </a:prstGeom>
          <a:solidFill>
            <a:srgbClr val="1A0D2E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Hiragino Kaku Gothic ProN"/>
              </a:rPr>
              <a:t>営業前に
案件候補が
自動で集まる</a:t>
            </a:r>
          </a:p>
        </p:txBody>
      </p:sp>
      <p:pic>
        <p:nvPicPr>
          <p:cNvPr id="10" name="Picture 9" descr="actionmap-slide-seisaku-normal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7" y="914400"/>
            <a:ext cx="3657600" cy="2057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407407" y="3063240"/>
            <a:ext cx="3657600" cy="5486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7" y="309067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0D0D"/>
                </a:solidFill>
                <a:latin typeface="Hiragino Kaku Gothic ProN"/>
              </a:rPr>
              <a:t>スライド 制作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7" y="3657600"/>
            <a:ext cx="3657600" cy="2011680"/>
          </a:xfrm>
          <a:prstGeom prst="rect">
            <a:avLst/>
          </a:prstGeom>
          <a:solidFill>
            <a:srgbClr val="1A0D2E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7" y="37947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Hiragino Kaku Gothic ProN"/>
              </a:rPr>
              <a:t>提案資料を
半自動で
作れる</a:t>
            </a:r>
          </a:p>
        </p:txBody>
      </p:sp>
      <p:pic>
        <p:nvPicPr>
          <p:cNvPr id="15" name="Picture 14" descr="actionmap-system-kaihatsu-normaliz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4" y="914400"/>
            <a:ext cx="3657600" cy="20574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311894" y="3063240"/>
            <a:ext cx="3657600" cy="5486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4" y="309067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0D0D"/>
                </a:solidFill>
                <a:latin typeface="Hiragino Kaku Gothic ProN"/>
              </a:rPr>
              <a:t>システム 開発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11894" y="3657600"/>
            <a:ext cx="3657600" cy="2011680"/>
          </a:xfrm>
          <a:prstGeom prst="rect">
            <a:avLst/>
          </a:prstGeom>
          <a:solidFill>
            <a:srgbClr val="1A0D2E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4" y="37947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Hiragino Kaku Gothic ProN"/>
              </a:rPr>
              <a:t>業務改善ツールを
AIで
自分で構築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888899"/>
                </a:solidFill>
                <a:latin typeface="Hiragino Kaku Gothic ProN"/>
              </a:rPr>
              <a:t>全13テーマ・毎週増加中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7B2FFF"/>
                </a:solidFill>
                <a:latin typeface="Hiragino Kaku Gothic ProN"/>
              </a:rPr>
              <a:t>1期生の実績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960120"/>
            <a:ext cx="4846320" cy="4572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88899"/>
                </a:solidFill>
                <a:latin typeface="Hiragino Kaku Gothic ProN"/>
              </a:rPr>
              <a:t>完全未経験から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7B2FFF"/>
                </a:solidFill>
                <a:latin typeface="Hiragino Kaku Gothic ProN"/>
              </a:rPr>
              <a:t>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8899"/>
                </a:solidFill>
                <a:latin typeface="Hiragino Kaku Gothic ProN"/>
              </a:rPr>
              <a:t>でシステムを完成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88899"/>
                </a:solidFill>
                <a:latin typeface="Hiragino Kaku Gothic ProN"/>
              </a:rPr>
              <a:t>LP制作・SNS自動化・業務効率化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7B2FFF"/>
                </a:solidFill>
                <a:latin typeface="Hiragino Kaku Gothic ProN"/>
              </a:rPr>
              <a:t>各自が完成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88899"/>
                </a:solidFill>
                <a:latin typeface="Hiragino Kaku Gothic ProN"/>
              </a:rPr>
              <a:t>コミュニティで助け合いながら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7B2FFF"/>
                </a:solidFill>
                <a:latin typeface="Hiragino Kaku Gothic ProN"/>
              </a:rPr>
              <a:t>スキルアップ中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888899"/>
                </a:solidFill>
                <a:latin typeface="Hiragino Kaku Gothic ProN"/>
              </a:rPr>
              <a:t>受け取れる価値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8046720" cy="777240"/>
          </a:xfrm>
          <a:prstGeom prst="rect">
            <a:avLst/>
          </a:prstGeom>
          <a:solidFill>
            <a:srgbClr val="1A0D2E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69848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Hiragino Kaku Gothic ProN"/>
              </a:rPr>
              <a:t>講義（全13テーマ・動画+テキスト）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960120"/>
            <a:ext cx="2834640" cy="7772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0515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0D0D"/>
                </a:solidFill>
                <a:latin typeface="Hiragino Kaku Gothic ProN"/>
              </a:rPr>
              <a:t>349,000円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20"/>
            <a:ext cx="8046720" cy="777240"/>
          </a:xfrm>
          <a:prstGeom prst="rect">
            <a:avLst/>
          </a:prstGeom>
          <a:solidFill>
            <a:srgbClr val="1A0D2E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84248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Hiragino Kaku Gothic ProN"/>
              </a:rPr>
              <a:t>専用コミュニティ＋質問＋アーカイブ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874520"/>
            <a:ext cx="2834640" cy="7772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19659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0D0D"/>
                </a:solidFill>
                <a:latin typeface="Hiragino Kaku Gothic ProN"/>
              </a:rPr>
              <a:t>100,000円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8046720" cy="777240"/>
          </a:xfrm>
          <a:prstGeom prst="rect">
            <a:avLst/>
          </a:prstGeom>
          <a:solidFill>
            <a:srgbClr val="1A0D2E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Hiragino Kaku Gothic ProN"/>
              </a:rPr>
              <a:t>ブートキャンプ（全4回・各2時間）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2788920"/>
            <a:ext cx="2834640" cy="7772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28803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0D0D"/>
                </a:solidFill>
                <a:latin typeface="Hiragino Kaku Gothic ProN"/>
              </a:rPr>
              <a:t>200,000円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8046720" cy="777240"/>
          </a:xfrm>
          <a:prstGeom prst="rect">
            <a:avLst/>
          </a:prstGeom>
          <a:solidFill>
            <a:srgbClr val="1A0D2E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13048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Hiragino Kaku Gothic ProN"/>
              </a:rPr>
              <a:t>社内実用システム12種（そのまま使える）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3703320"/>
            <a:ext cx="2834640" cy="7772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37947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0D0D"/>
                </a:solidFill>
                <a:latin typeface="Hiragino Kaku Gothic ProN"/>
              </a:rPr>
              <a:t>超高額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63440"/>
            <a:ext cx="11064240" cy="4572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463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888899"/>
                </a:solidFill>
                <a:latin typeface="Hiragino Kaku Gothic ProN"/>
              </a:rPr>
              <a:t>総額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75488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7B2FFF"/>
                </a:solidFill>
                <a:latin typeface="Hiragino Kaku Gothic ProN"/>
              </a:rPr>
              <a:t>2,485,000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5029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888899"/>
                </a:solidFill>
                <a:latin typeface="Hiragino Kaku Gothic ProN"/>
              </a:rPr>
              <a:t>円相当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99"/>
                </a:solidFill>
                <a:latin typeface="Hiragino Kaku Gothic ProN"/>
              </a:rPr>
              <a:t>価格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  <a:latin typeface="Hiragino Kaku Gothic ProN"/>
              </a:rPr>
              <a:t>198,000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888899"/>
                </a:solidFill>
                <a:latin typeface="Hiragino Kaku Gothic ProN"/>
              </a:rPr>
              <a:t>円（税抜）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457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>
                <a:solidFill>
                  <a:srgbClr val="888899"/>
                </a:solidFill>
                <a:latin typeface="Hiragino Kaku Gothic ProN"/>
              </a:rPr>
              <a:t>1日あたり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9319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AA66FF"/>
                </a:solidFill>
                <a:latin typeface="Hiragino Kaku Gothic ProN"/>
              </a:rPr>
              <a:t>251円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99"/>
                </a:solidFill>
                <a:latin typeface="Hiragino Kaku Gothic ProN"/>
              </a:rPr>
              <a:t>クレジット分割：月々約 7,532円〜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7B2FFF"/>
                </a:solidFill>
                <a:latin typeface="Hiragino Kaku Gothic ProN"/>
              </a:rPr>
              <a:t>2期生限定価格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99"/>
                </a:solidFill>
                <a:latin typeface="Hiragino Kaku Gothic ProN"/>
              </a:rPr>
              <a:t>投資対効果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888899"/>
                </a:solidFill>
                <a:latin typeface="Hiragino Kaku Gothic ProN"/>
              </a:rPr>
              <a:t>月10万円の案件を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>
                <a:solidFill>
                  <a:srgbClr val="7B2FFF"/>
                </a:solidFill>
                <a:latin typeface="Hiragino Kaku Gothic ProN"/>
              </a:rPr>
              <a:t>2件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888899"/>
                </a:solidFill>
                <a:latin typeface="Hiragino Kaku Gothic ProN"/>
              </a:rPr>
              <a:t>取るだけで全額回収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114800"/>
            <a:ext cx="9418320" cy="4572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88899"/>
                </a:solidFill>
                <a:latin typeface="Hiragino Kaku Gothic ProN"/>
              </a:rPr>
              <a:t>法人AIコンサルの相場：月50〜200万円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Hiragino Kaku Gothic ProN"/>
              </a:rPr>
              <a:t>月10万円案件を狙うための実践スキルと制作経験を、ここで積み上げます。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88899"/>
                </a:solidFill>
                <a:latin typeface="Hiragino Kaku Gothic ProN"/>
              </a:rPr>
              <a:t>Claude Codeを使いこなしている日本人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7B2FFF"/>
                </a:solidFill>
                <a:latin typeface="Hiragino Kaku Gothic ProN"/>
              </a:rPr>
              <a:t>推定 0.1%未満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651760"/>
            <a:ext cx="9418320" cy="4572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Hiragino Kaku Gothic ProN"/>
              </a:rPr>
              <a:t>先に動いた人だけが、圧倒的に有利になる。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88899"/>
                </a:solidFill>
                <a:latin typeface="Hiragino Kaku Gothic ProN"/>
              </a:rPr>
              <a:t>AIスキルは「知っているかどうか」の差です。今この瞬間が、最も早いタイミングです。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888899"/>
                </a:solidFill>
                <a:latin typeface="Hiragino Kaku Gothic ProN"/>
              </a:rPr>
              <a:t>7日で、月10万円案件を狙えるスキルへ。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9418320" cy="4572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Hiragino Kaku Gothic ProN"/>
              </a:rPr>
              <a:t>本質のClaude Code 完全攻略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Hiragino Kaku Gothic ProN"/>
              </a:rPr>
              <a:t>7dayブートキャンプ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840480"/>
            <a:ext cx="8503920" cy="13716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23367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D0D0D"/>
                </a:solidFill>
                <a:latin typeface="Hiragino Kaku Gothic ProN"/>
              </a:rPr>
              <a:t>今すぐ申し込む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8899"/>
                </a:solidFill>
                <a:latin typeface="Hiragino Kaku Gothic ProN"/>
              </a:rPr>
              <a:t>198,000円（税抜）　月々 7,532円〜　2期生限定価格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
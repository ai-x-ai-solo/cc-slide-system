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ヒラギノ角ゴシック"/>
        <a:buChar char="•"/>
        <a:defRPr sz="32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1pPr>
      <a:lvl2pPr marL="742950" indent="-285750" algn="l" defTabSz="457200" rtl="0" eaLnBrk="1" latinLnBrk="0" hangingPunct="1">
        <a:spcBef>
          <a:spcPct val="20000"/>
        </a:spcBef>
        <a:buFont typeface="ヒラギノ角ゴシック"/>
        <a:buChar char="–"/>
        <a:defRPr sz="2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2pPr>
      <a:lvl3pPr marL="11430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4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3pPr>
      <a:lvl4pPr marL="1600200" indent="-228600" algn="l" defTabSz="457200" rtl="0" eaLnBrk="1" latinLnBrk="0" hangingPunct="1">
        <a:spcBef>
          <a:spcPct val="20000"/>
        </a:spcBef>
        <a:buFont typeface="ヒラギノ角ゴシック"/>
        <a:buChar char="–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4pPr>
      <a:lvl5pPr marL="2057400" indent="-228600" algn="l" defTabSz="457200" rtl="0" eaLnBrk="1" latinLnBrk="0" hangingPunct="1">
        <a:spcBef>
          <a:spcPct val="20000"/>
        </a:spcBef>
        <a:buFont typeface="ヒラギノ角ゴシック"/>
        <a:buChar char="»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5pPr>
      <a:lvl6pPr marL="25146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6pPr>
      <a:lvl7pPr marL="29718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7pPr>
      <a:lvl8pPr marL="34290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8pPr>
      <a:lvl9pPr marL="38862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7日で、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月10万円案件を狙えるスキルへ。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977639"/>
            <a:ext cx="8503920" cy="36576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本質のClaude Code 完全攻略 7dayブートキャンプ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アドネス株式会社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毎日同じ作業を繰り返していませんか？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457200" cy="82296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71600"/>
            <a:ext cx="411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0D0D"/>
                </a:solidFill>
                <a:latin typeface="ヒラギノ角ゴシック"/>
                <a:ea typeface="ヒラギノ角ゴシック"/>
                <a:cs typeface="ヒラギノ角ゴシック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8988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資料作成に毎回2〜3時間かかっている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457200" cy="82296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560320"/>
            <a:ext cx="411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0D0D"/>
                </a:solidFill>
                <a:latin typeface="ヒラギノ角ゴシック"/>
                <a:ea typeface="ヒラギノ角ゴシック"/>
                <a:cs typeface="ヒラギノ角ゴシック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7860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同じメールを少しだけ変えて何度も送っている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57600"/>
            <a:ext cx="457200" cy="82296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749040"/>
            <a:ext cx="411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0D0D"/>
                </a:solidFill>
                <a:latin typeface="ヒラギノ角ゴシック"/>
                <a:ea typeface="ヒラギノ角ゴシック"/>
                <a:cs typeface="ヒラギノ角ゴシック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673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副業を始めたいが、何のスキルを身につければいいか分からない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46320"/>
            <a:ext cx="457200" cy="82296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937760"/>
            <a:ext cx="411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0D0D"/>
                </a:solidFill>
                <a:latin typeface="ヒラギノ角ゴシック"/>
                <a:ea typeface="ヒラギノ角ゴシック"/>
                <a:cs typeface="ヒラギノ角ゴシック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5604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「これ、誰でもできる作業だよな」と感じながら続けている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AI格差は、今この瞬間も広がっています。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303520" cy="4572000"/>
          </a:xfrm>
          <a:prstGeom prst="rect">
            <a:avLst/>
          </a:prstGeom>
          <a:solidFill>
            <a:srgbClr val="1A0D2E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AIを使えない人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✗  手作業・繰り返し作業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✗  月収は横ばい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✗  スキルが身につかない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292608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AA66FF"/>
                </a:solidFill>
                <a:latin typeface="ヒラギノ角ゴシック"/>
                <a:ea typeface="ヒラギノ角ゴシック"/>
                <a:cs typeface="ヒラギノ角ゴシック"/>
              </a:rPr>
              <a:t>VS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143000"/>
            <a:ext cx="5303520" cy="4572000"/>
          </a:xfrm>
          <a:prstGeom prst="rect">
            <a:avLst/>
          </a:prstGeom>
          <a:solidFill>
            <a:srgbClr val="1A0D2E"/>
          </a:solidFill>
          <a:ln w="254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2801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2FFF"/>
                </a:solidFill>
                <a:latin typeface="ヒラギノ角ゴシック"/>
                <a:ea typeface="ヒラギノ角ゴシック"/>
                <a:cs typeface="ヒラギノ角ゴシック"/>
              </a:rPr>
              <a:t>AIを使いこなす人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9202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✓  作業を自動化して時間を生む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7432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✓  月10万円以上の案件を獲得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56616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✓  スキルで選ばれる側になる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35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66FF"/>
                </a:solidFill>
                <a:latin typeface="ヒラギノ角ゴシック"/>
                <a:ea typeface="ヒラギノ角ゴシック"/>
                <a:cs typeface="ヒラギノ角ゴシック"/>
              </a:rPr>
              <a:t>→ 差がつくのは「知っているかどうか」だけ。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Claude Codeを使いこなしている日本人は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推定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7315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>
                <a:solidFill>
                  <a:srgbClr val="7B2FFF"/>
                </a:solidFill>
                <a:latin typeface="ヒラギノ角ゴシック"/>
                <a:ea typeface="ヒラギノ角ゴシック"/>
                <a:cs typeface="ヒラギノ角ゴシック"/>
              </a:rPr>
              <a:t>0.1%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0058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未満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834640"/>
            <a:ext cx="9418320" cy="36576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今から始めれば、あなたは「使いこなせる側」になれます。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A66FF"/>
                </a:solidFill>
                <a:latin typeface="ヒラギノ角ゴシック"/>
                <a:ea typeface="ヒラギノ角ゴシック"/>
                <a:cs typeface="ヒラギノ角ゴシック"/>
              </a:rPr>
              <a:t>Claude Codeは日本語で動きます。プログラミングは不要。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→ 早い者勝ちのスキル。今が、最後のタイミングかもしれない。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INSTRUCTOR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7B2FFF"/>
                </a:solidFill>
                <a:latin typeface="ヒラギノ角ゴシック"/>
                <a:ea typeface="ヒラギノ角ゴシック"/>
                <a:cs typeface="ヒラギノ角ゴシック"/>
              </a:rPr>
              <a:t>みかみ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アドネス株式会社　代表取締役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7498079" cy="45720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1005840" cy="64008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51460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0D0D"/>
                </a:solidFill>
                <a:latin typeface="ヒラギノ角ゴシック"/>
                <a:ea typeface="ヒラギノ角ゴシック"/>
                <a:cs typeface="ヒラギノ角ゴシック"/>
              </a:rPr>
              <a:t>規模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51460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東大在学中に起業 → AIで組織を最適化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1005840" cy="64008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42900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0D0D"/>
                </a:solidFill>
                <a:latin typeface="ヒラギノ角ゴシック"/>
                <a:ea typeface="ヒラギノ角ゴシック"/>
                <a:cs typeface="ヒラギノ角ゴシック"/>
              </a:rPr>
              <a:t>実績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42900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AIで月商5億円を達成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51960"/>
            <a:ext cx="1005840" cy="64008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4340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0D0D"/>
                </a:solidFill>
                <a:latin typeface="ヒラギノ角ゴシック"/>
                <a:ea typeface="ヒラギノ角ゴシック"/>
                <a:cs typeface="ヒラギノ角ゴシック"/>
              </a:rPr>
              <a:t>信頼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34340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スキルプラス受講生 6,000名以上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25780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「実際の事業でAIを使い続けている側」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502920"/>
            <a:ext cx="2743200" cy="2743200"/>
          </a:xfrm>
          <a:prstGeom prst="roundRect">
            <a:avLst/>
          </a:prstGeom>
          <a:solidFill>
            <a:srgbClr val="1A0D2E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68128" y="996696"/>
            <a:ext cx="877824" cy="877824"/>
          </a:xfrm>
          <a:prstGeom prst="ellipse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37192" y="2011680"/>
            <a:ext cx="2139696" cy="1152144"/>
          </a:xfrm>
          <a:prstGeom prst="ellipse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INSTRUCTOR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7B2FFF"/>
                </a:solidFill>
                <a:latin typeface="ヒラギノ角ゴシック"/>
                <a:ea typeface="ヒラギノ角ゴシック"/>
                <a:cs typeface="ヒラギノ角ゴシック"/>
              </a:rPr>
              <a:t>佐藤将司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アドネス株式会社　AI事業責任者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7498079" cy="45720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元・公務員（月給12万円）／プログラミング経験ゼロ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↓　Claude Codeで100以上のシステムを構築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↓　営業初月　1,000万円案件を獲得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B2FFF"/>
                </a:solidFill>
                <a:latin typeface="ヒラギノ角ゴシック"/>
                <a:ea typeface="ヒラギノ角ゴシック"/>
                <a:cs typeface="ヒラギノ角ゴシック"/>
              </a:rPr>
              <a:t>↓　AIで月4,500万円規模の事業を運営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502920"/>
            <a:ext cx="2743200" cy="2743200"/>
          </a:xfrm>
          <a:prstGeom prst="roundRect">
            <a:avLst/>
          </a:prstGeom>
          <a:solidFill>
            <a:srgbClr val="1A0D2E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68128" y="996696"/>
            <a:ext cx="877824" cy="877824"/>
          </a:xfrm>
          <a:prstGeom prst="ellipse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37192" y="2011680"/>
            <a:ext cx="2139696" cy="1152144"/>
          </a:xfrm>
          <a:prstGeom prst="ellipse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Claude Code ブートキャンプ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1">
                <a:solidFill>
                  <a:srgbClr val="7B2FFF"/>
                </a:solidFill>
                <a:latin typeface="ヒラギノ角ゴシック"/>
                <a:ea typeface="ヒラギノ角ゴシック"/>
                <a:cs typeface="ヒラギノ角ゴシック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DAYS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4754880"/>
            <a:ext cx="7589520" cy="45720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✓ 未経験OK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937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✓ 日本語で操作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937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✓ 実践型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4937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✓ その場で完成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受講後、こんなことができるようになります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4846320" cy="45720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3657600" cy="14630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D0D0D"/>
                </a:solidFill>
                <a:latin typeface="ヒラギノ角ゴシック"/>
                <a:ea typeface="ヒラギノ角ゴシック"/>
                <a:cs typeface="ヒラギノ角ゴシック"/>
              </a:rPr>
              <a:t>案件探索
自動化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00400"/>
            <a:ext cx="3657600" cy="2560320"/>
          </a:xfrm>
          <a:prstGeom prst="rect">
            <a:avLst/>
          </a:prstGeom>
          <a:solidFill>
            <a:srgbClr val="1A0D2E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営業前に
案件候補が
自動で集まる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7" y="1554480"/>
            <a:ext cx="3657600" cy="14630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7" y="17830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D0D0D"/>
                </a:solidFill>
                <a:latin typeface="ヒラギノ角ゴシック"/>
                <a:ea typeface="ヒラギノ角ゴシック"/>
                <a:cs typeface="ヒラギノ角ゴシック"/>
              </a:rPr>
              <a:t>スライド
制作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7" y="3200400"/>
            <a:ext cx="3657600" cy="2560320"/>
          </a:xfrm>
          <a:prstGeom prst="rect">
            <a:avLst/>
          </a:prstGeom>
          <a:solidFill>
            <a:srgbClr val="1A0D2E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7" y="35661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提案資料を
半自動で
作れる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11894" y="1554480"/>
            <a:ext cx="3657600" cy="14630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4" y="17830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D0D0D"/>
                </a:solidFill>
                <a:latin typeface="ヒラギノ角ゴシック"/>
                <a:ea typeface="ヒラギノ角ゴシック"/>
                <a:cs typeface="ヒラギノ角ゴシック"/>
              </a:rPr>
              <a:t>システム
開発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11894" y="3200400"/>
            <a:ext cx="3657600" cy="2560320"/>
          </a:xfrm>
          <a:prstGeom prst="rect">
            <a:avLst/>
          </a:prstGeom>
          <a:solidFill>
            <a:srgbClr val="1A0D2E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4" y="35661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業務改善ツールを
AIで
自分で構築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全13テーマ・毎週増加中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7B2FFF"/>
                </a:solidFill>
                <a:latin typeface="ヒラギノ角ゴシック"/>
                <a:ea typeface="ヒラギノ角ゴシック"/>
                <a:cs typeface="ヒラギノ角ゴシック"/>
              </a:rPr>
              <a:t>1期生の実績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960120"/>
            <a:ext cx="4846320" cy="45720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完全未経験から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7B2FFF"/>
                </a:solidFill>
                <a:latin typeface="ヒラギノ角ゴシック"/>
                <a:ea typeface="ヒラギノ角ゴシック"/>
                <a:cs typeface="ヒラギノ角ゴシック"/>
              </a:rPr>
              <a:t>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でシステムを完成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LP制作・SNS自動化・業務効率化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7B2FFF"/>
                </a:solidFill>
                <a:latin typeface="ヒラギノ角ゴシック"/>
                <a:ea typeface="ヒラギノ角ゴシック"/>
                <a:cs typeface="ヒラギノ角ゴシック"/>
              </a:rPr>
              <a:t>各自が完成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コミュニティで助け合いながら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7B2FFF"/>
                </a:solidFill>
                <a:latin typeface="ヒラギノ角ゴシック"/>
                <a:ea typeface="ヒラギノ角ゴシック"/>
                <a:cs typeface="ヒラギノ角ゴシック"/>
              </a:rPr>
              <a:t>スキルアップ中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受け取れる価値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8046720" cy="777240"/>
          </a:xfrm>
          <a:prstGeom prst="rect">
            <a:avLst/>
          </a:prstGeom>
          <a:solidFill>
            <a:srgbClr val="1A0D2E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69848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講義（全13テーマ・動画+テキスト）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960120"/>
            <a:ext cx="2834640" cy="7772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10515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0D0D"/>
                </a:solidFill>
                <a:latin typeface="ヒラギノ角ゴシック"/>
                <a:ea typeface="ヒラギノ角ゴシック"/>
                <a:cs typeface="ヒラギノ角ゴシック"/>
              </a:rPr>
              <a:t>349,000円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20"/>
            <a:ext cx="8046720" cy="777240"/>
          </a:xfrm>
          <a:prstGeom prst="rect">
            <a:avLst/>
          </a:prstGeom>
          <a:solidFill>
            <a:srgbClr val="1A0D2E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84248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専用コミュニティ＋質問＋アーカイブ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1874520"/>
            <a:ext cx="2834640" cy="7772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19659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0D0D"/>
                </a:solidFill>
                <a:latin typeface="ヒラギノ角ゴシック"/>
                <a:ea typeface="ヒラギノ角ゴシック"/>
                <a:cs typeface="ヒラギノ角ゴシック"/>
              </a:rPr>
              <a:t>100,000円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8046720" cy="777240"/>
          </a:xfrm>
          <a:prstGeom prst="rect">
            <a:avLst/>
          </a:prstGeom>
          <a:solidFill>
            <a:srgbClr val="1A0D2E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ブートキャンプ（全4回・各2時間）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2788920"/>
            <a:ext cx="2834640" cy="7772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28803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0D0D"/>
                </a:solidFill>
                <a:latin typeface="ヒラギノ角ゴシック"/>
                <a:ea typeface="ヒラギノ角ゴシック"/>
                <a:cs typeface="ヒラギノ角ゴシック"/>
              </a:rPr>
              <a:t>200,000円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8046720" cy="777240"/>
          </a:xfrm>
          <a:prstGeom prst="rect">
            <a:avLst/>
          </a:prstGeom>
          <a:solidFill>
            <a:srgbClr val="1A0D2E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13048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社内実用システム12種（そのまま使える）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3703320"/>
            <a:ext cx="2834640" cy="7772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37947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0D0D"/>
                </a:solidFill>
                <a:latin typeface="ヒラギノ角ゴシック"/>
                <a:ea typeface="ヒラギノ角ゴシック"/>
                <a:cs typeface="ヒラギノ角ゴシック"/>
              </a:rPr>
              <a:t>超高額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63440"/>
            <a:ext cx="11064240" cy="45720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463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総額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75488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7B2FFF"/>
                </a:solidFill>
                <a:latin typeface="ヒラギノ角ゴシック"/>
                <a:ea typeface="ヒラギノ角ゴシック"/>
                <a:cs typeface="ヒラギノ角ゴシック"/>
              </a:rPr>
              <a:t>2,485,000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5029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円相当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価格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198,000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円（税抜）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457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1日あたり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93192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AA66FF"/>
                </a:solidFill>
                <a:latin typeface="ヒラギノ角ゴシック"/>
                <a:ea typeface="ヒラギノ角ゴシック"/>
                <a:cs typeface="ヒラギノ角ゴシック"/>
              </a:rPr>
              <a:t>251円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クレジット分割：月々約 7,532円〜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7B2FFF"/>
                </a:solidFill>
                <a:latin typeface="ヒラギノ角ゴシック"/>
                <a:ea typeface="ヒラギノ角ゴシック"/>
                <a:cs typeface="ヒラギノ角ゴシック"/>
              </a:rPr>
              <a:t>2期生限定価格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投資対効果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月10万円の案件を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>
                <a:solidFill>
                  <a:srgbClr val="7B2FFF"/>
                </a:solidFill>
                <a:latin typeface="ヒラギノ角ゴシック"/>
                <a:ea typeface="ヒラギノ角ゴシック"/>
                <a:cs typeface="ヒラギノ角ゴシック"/>
              </a:rPr>
              <a:t>2件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取るだけで全額回収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114800"/>
            <a:ext cx="9418320" cy="45720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法人AIコンサルの相場：月50〜200万円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月10万円案件を狙うための実践スキルと制作経験を、ここで積み上げます。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Claude Codeを使いこなしている日本人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7B2FFF"/>
                </a:solidFill>
                <a:latin typeface="ヒラギノ角ゴシック"/>
                <a:ea typeface="ヒラギノ角ゴシック"/>
                <a:cs typeface="ヒラギノ角ゴシック"/>
              </a:rPr>
              <a:t>推定 0.1%未満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651760"/>
            <a:ext cx="9418320" cy="45720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先に動いた人だけが、圧倒的に有利になる。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AIスキルは「知っているかどうか」の差です。今この瞬間が、最も早いタイミングです。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7日で、月10万円案件を狙えるスキルへ。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9418320" cy="45720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本質のClaude Code 完全攻略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7dayブートキャンプ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840480"/>
            <a:ext cx="8503920" cy="13716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23367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D0D0D"/>
                </a:solidFill>
                <a:latin typeface="ヒラギノ角ゴシック"/>
                <a:ea typeface="ヒラギノ角ゴシック"/>
                <a:cs typeface="ヒラギノ角ゴシック"/>
              </a:rPr>
              <a:t>今すぐ申し込む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8899"/>
                </a:solidFill>
                <a:latin typeface="ヒラギノ角ゴシック"/>
                <a:ea typeface="ヒラギノ角ゴシック"/>
                <a:cs typeface="ヒラギノ角ゴシック"/>
              </a:rPr>
              <a:t>198,000円（税抜）　月々 7,532円〜　2期生限定価格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ヒラギノ角ゴシック"/>
        <a:ea typeface="ヒラギノ角ゴシック"/>
        <a:cs typeface="ヒラギノ角ゴシック"/>
        <a:font script="Jpan" typeface="ヒラギノ角ゴシック"/>
        <a:font script="Hang" typeface="ヒラギノ角ゴシック"/>
        <a:font script="Hans" typeface="ヒラギノ角ゴシック"/>
        <a:font script="Hant" typeface="ヒラギノ角ゴシック"/>
        <a:font script="Arab" typeface="ヒラギノ角ゴシック"/>
        <a:font script="Hebr" typeface="ヒラギノ角ゴシック"/>
        <a:font script="Thai" typeface="ヒラギノ角ゴシック"/>
        <a:font script="Ethi" typeface="ヒラギノ角ゴシック"/>
        <a:font script="Beng" typeface="ヒラギノ角ゴシック"/>
        <a:font script="Gujr" typeface="ヒラギノ角ゴシック"/>
        <a:font script="Khmr" typeface="ヒラギノ角ゴシック"/>
        <a:font script="Knda" typeface="ヒラギノ角ゴシック"/>
        <a:font script="Guru" typeface="ヒラギノ角ゴシック"/>
        <a:font script="Cans" typeface="ヒラギノ角ゴシック"/>
        <a:font script="Cher" typeface="ヒラギノ角ゴシック"/>
        <a:font script="Yiii" typeface="ヒラギノ角ゴシック"/>
        <a:font script="Tibt" typeface="ヒラギノ角ゴシック"/>
        <a:font script="Thaa" typeface="ヒラギノ角ゴシック"/>
        <a:font script="Deva" typeface="ヒラギノ角ゴシック"/>
        <a:font script="Telu" typeface="ヒラギノ角ゴシック"/>
        <a:font script="Taml" typeface="ヒラギノ角ゴシック"/>
        <a:font script="Syrc" typeface="ヒラギノ角ゴシック"/>
        <a:font script="Orya" typeface="ヒラギノ角ゴシック"/>
        <a:font script="Mlym" typeface="ヒラギノ角ゴシック"/>
        <a:font script="Laoo" typeface="ヒラギノ角ゴシック"/>
        <a:font script="Sinh" typeface="ヒラギノ角ゴシック"/>
        <a:font script="Mong" typeface="ヒラギノ角ゴシック"/>
        <a:font script="Viet" typeface="ヒラギノ角ゴシック"/>
        <a:font script="Uigh" typeface="ヒラギノ角ゴシック"/>
        <a:font script="Geor" typeface="ヒラギノ角ゴシック"/>
      </a:majorFont>
      <a:minorFont>
        <a:latin typeface="ヒラギノ角ゴシック"/>
        <a:ea typeface="ヒラギノ角ゴシック"/>
        <a:cs typeface="ヒラギノ角ゴシック"/>
        <a:font script="Jpan" typeface="ヒラギノ角ゴシック"/>
        <a:font script="Hang" typeface="ヒラギノ角ゴシック"/>
        <a:font script="Hans" typeface="ヒラギノ角ゴシック"/>
        <a:font script="Hant" typeface="ヒラギノ角ゴシック"/>
        <a:font script="Arab" typeface="ヒラギノ角ゴシック"/>
        <a:font script="Hebr" typeface="ヒラギノ角ゴシック"/>
        <a:font script="Thai" typeface="ヒラギノ角ゴシック"/>
        <a:font script="Ethi" typeface="ヒラギノ角ゴシック"/>
        <a:font script="Beng" typeface="ヒラギノ角ゴシック"/>
        <a:font script="Gujr" typeface="ヒラギノ角ゴシック"/>
        <a:font script="Khmr" typeface="ヒラギノ角ゴシック"/>
        <a:font script="Knda" typeface="ヒラギノ角ゴシック"/>
        <a:font script="Guru" typeface="ヒラギノ角ゴシック"/>
        <a:font script="Cans" typeface="ヒラギノ角ゴシック"/>
        <a:font script="Cher" typeface="ヒラギノ角ゴシック"/>
        <a:font script="Yiii" typeface="ヒラギノ角ゴシック"/>
        <a:font script="Tibt" typeface="ヒラギノ角ゴシック"/>
        <a:font script="Thaa" typeface="ヒラギノ角ゴシック"/>
        <a:font script="Deva" typeface="ヒラギノ角ゴシック"/>
        <a:font script="Telu" typeface="ヒラギノ角ゴシック"/>
        <a:font script="Taml" typeface="ヒラギノ角ゴシック"/>
        <a:font script="Syrc" typeface="ヒラギノ角ゴシック"/>
        <a:font script="Orya" typeface="ヒラギノ角ゴシック"/>
        <a:font script="Mlym" typeface="ヒラギノ角ゴシック"/>
        <a:font script="Laoo" typeface="ヒラギノ角ゴシック"/>
        <a:font script="Sinh" typeface="ヒラギノ角ゴシック"/>
        <a:font script="Mong" typeface="ヒラギノ角ゴシック"/>
        <a:font script="Viet" typeface="ヒラギノ角ゴシック"/>
        <a:font script="Uigh" typeface="ヒラギノ角ゴシック"/>
        <a:font script="Geor" typeface="ヒラギノ角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
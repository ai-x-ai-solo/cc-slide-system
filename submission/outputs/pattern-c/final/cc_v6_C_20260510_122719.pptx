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A2E1A"/>
                </a:solidFill>
                <a:latin typeface="Hiragino Kaku Gothic ProN"/>
              </a:rPr>
              <a:t>プログラミングは、いりません。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468880"/>
            <a:ext cx="8503920" cy="54864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AA06E"/>
                </a:solidFill>
                <a:latin typeface="Hiragino Kaku Gothic ProN"/>
              </a:rPr>
              <a:t>日本語で話しかけるだけで動く。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79977"/>
                </a:solidFill>
                <a:latin typeface="Hiragino Kaku Gothic ProN"/>
              </a:rPr>
              <a:t>本質のClaude Code 完全攻略 7dayブートキャンプ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779977"/>
                </a:solidFill>
                <a:latin typeface="Hiragino Kaku Gothic ProN"/>
              </a:rPr>
              <a:t>アドネス株式会社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2E1A"/>
                </a:solidFill>
                <a:latin typeface="Hiragino Kaku Gothic ProN"/>
              </a:rPr>
              <a:t>こんな気持ち、ありませんか？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601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1A"/>
                </a:solidFill>
                <a:latin typeface="Hiragino Kaku Gothic ProN"/>
              </a:rPr>
              <a:t>「毎回同じ作業、なんか時間もったいないな」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64240" cy="9601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1A"/>
                </a:solidFill>
                <a:latin typeface="Hiragino Kaku Gothic ProN"/>
              </a:rPr>
              <a:t>「AIって難しそう…自分には無理かも」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9601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1A"/>
                </a:solidFill>
                <a:latin typeface="Hiragino Kaku Gothic ProN"/>
              </a:rPr>
              <a:t>「副業してみたいけど、何のスキルを身につければいいか分からない」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46320"/>
            <a:ext cx="11064240" cy="9601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1A"/>
                </a:solidFill>
                <a:latin typeface="Hiragino Kaku Gothic ProN"/>
              </a:rPr>
              <a:t>「プログラミングは絶対無理。でもAIは気になる」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A06E"/>
                </a:solidFill>
                <a:latin typeface="Hiragino Kaku Gothic ProN"/>
              </a:rPr>
              <a:t>その感覚、全部正解です。だから、このブートキャンプがあります。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779977"/>
                </a:solidFill>
                <a:latin typeface="Hiragino Kaku Gothic ProN"/>
              </a:rPr>
              <a:t>Claude Codeは、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A06E"/>
                </a:solidFill>
                <a:latin typeface="Hiragino Kaku Gothic ProN"/>
              </a:rPr>
              <a:t>日本語で話しかけるだけで動きます。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14600"/>
            <a:ext cx="941832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54864" cy="8229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06E"/>
                </a:solidFill>
                <a:latin typeface="Hiragino Kaku Gothic ProN"/>
              </a:rPr>
              <a:t>プログラミング不要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E1A"/>
                </a:solidFill>
                <a:latin typeface="Hiragino Kaku Gothic ProN"/>
              </a:rPr>
              <a:t>日本語で指示するだけ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06E"/>
                </a:solidFill>
                <a:latin typeface="Hiragino Kaku Gothic ProN"/>
              </a:rPr>
              <a:t>副業に直結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E1A"/>
                </a:solidFill>
                <a:latin typeface="Hiragino Kaku Gothic ProN"/>
              </a:rPr>
              <a:t>案件探索・LP制作・資料作成を自動化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54864" cy="8229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06E"/>
                </a:solidFill>
                <a:latin typeface="Hiragino Kaku Gothic ProN"/>
              </a:rPr>
              <a:t>未経験OK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E1A"/>
                </a:solidFill>
                <a:latin typeface="Hiragino Kaku Gothic ProN"/>
              </a:rPr>
              <a:t>1期生は7日でシステムを完成させた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79977"/>
                </a:solidFill>
                <a:latin typeface="Hiragino Kaku Gothic ProN"/>
              </a:rPr>
              <a:t>INSTRUCTOR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A06E"/>
                </a:solidFill>
                <a:latin typeface="Hiragino Kaku Gothic ProN"/>
              </a:rPr>
              <a:t>みかみ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79977"/>
                </a:solidFill>
                <a:latin typeface="Hiragino Kaku Gothic ProN"/>
              </a:rPr>
              <a:t>アドネス株式会社　代表取締役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5044" y="26517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1A"/>
                </a:solidFill>
                <a:latin typeface="Hiragino Kaku Gothic ProN"/>
              </a:rPr>
              <a:t>受講生6,000名以上「スキルプラス」を運営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5044" y="35661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1A"/>
                </a:solidFill>
                <a:latin typeface="Hiragino Kaku Gothic ProN"/>
              </a:rPr>
              <a:t>AIで月商5億円を達成（本物の実績）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5044" y="44805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1A"/>
                </a:solidFill>
                <a:latin typeface="Hiragino Kaku Gothic ProN"/>
              </a:rPr>
              <a:t>東大在学中に起業・創業5年で年商30億円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949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1A"/>
                </a:solidFill>
                <a:latin typeface="Hiragino Kaku Gothic ProN"/>
              </a:rPr>
              <a:t>「現役で稼いでいる人間が教える」を徹底</a:t>
            </a:r>
          </a:p>
        </p:txBody>
      </p:sp>
      <p:pic>
        <p:nvPicPr>
          <p:cNvPr id="16" name="Picture 15" descr="mikami-profile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02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79977"/>
                </a:solidFill>
                <a:latin typeface="Hiragino Kaku Gothic ProN"/>
              </a:rPr>
              <a:t>INSTRUCTOR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A06E"/>
                </a:solidFill>
                <a:latin typeface="Hiragino Kaku Gothic ProN"/>
              </a:rPr>
              <a:t>佐藤将司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79977"/>
                </a:solidFill>
                <a:latin typeface="Hiragino Kaku Gothic ProN"/>
              </a:rPr>
              <a:t>アドネス株式会社　AI事業責任者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06E"/>
                </a:solidFill>
                <a:latin typeface="Hiragino Kaku Gothic ProN"/>
              </a:rPr>
              <a:t>プログラミング経験ゼロからスタートした人が教えます。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779977"/>
                </a:solidFill>
                <a:latin typeface="Hiragino Kaku Gothic ProN"/>
              </a:rPr>
              <a:t>元・公務員（月給12万円）／プログラミング経験ゼロ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A2E1A"/>
                </a:solidFill>
                <a:latin typeface="Hiragino Kaku Gothic ProN"/>
              </a:rPr>
              <a:t>↓　Claude Codeで100以上のシステムを構築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A06E"/>
                </a:solidFill>
                <a:latin typeface="Hiragino Kaku Gothic ProN"/>
              </a:rPr>
              <a:t>↓　未経験からAIで稼げるようになった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779977"/>
                </a:solidFill>
                <a:latin typeface="Hiragino Kaku Gothic ProN"/>
              </a:rPr>
              <a:t>→ 「自分でもできるかも」と思えるはずです</a:t>
            </a:r>
          </a:p>
        </p:txBody>
      </p:sp>
      <p:pic>
        <p:nvPicPr>
          <p:cNvPr id="13" name="Picture 12" descr="sato-profile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02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AA06E"/>
                </a:solidFill>
                <a:latin typeface="Hiragino Kaku Gothic ProN"/>
              </a:rPr>
              <a:t>一人にしません。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114800"/>
          </a:xfrm>
          <a:prstGeom prst="rect">
            <a:avLst/>
          </a:prstGeom>
          <a:solidFill>
            <a:srgbClr val="E8F8F0"/>
          </a:solidFill>
          <a:ln w="254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5943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Kaku Gothic ProN"/>
              </a:rPr>
              <a:t>予習期間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A2E1A"/>
                </a:solidFill>
                <a:latin typeface="Hiragino Kaku Gothic ProN"/>
              </a:rPr>
              <a:t>講義動画を自分のペースで
視聴
コミュニティで質問し放題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4114800"/>
          </a:xfrm>
          <a:prstGeom prst="rect">
            <a:avLst/>
          </a:prstGeom>
          <a:solidFill>
            <a:srgbClr val="E8F8F0"/>
          </a:solidFill>
          <a:ln w="254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5943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Kaku Gothic ProN"/>
              </a:rPr>
              <a:t>ブートキャンプ週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A2E1A"/>
                </a:solidFill>
                <a:latin typeface="Hiragino Kaku Gothic ProN"/>
              </a:rPr>
              <a:t>週4回・各2時間のオンラインセッション
講師と一緒に手を動かす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566160" cy="4114800"/>
          </a:xfrm>
          <a:prstGeom prst="rect">
            <a:avLst/>
          </a:prstGeom>
          <a:solidFill>
            <a:srgbClr val="E8F8F0"/>
          </a:solidFill>
          <a:ln w="254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566160" cy="5943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Kaku Gothic ProN"/>
              </a:rPr>
              <a:t>補講期間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A2E1A"/>
                </a:solidFill>
                <a:latin typeface="Hiragino Kaku Gothic ProN"/>
              </a:rPr>
              <a:t>終了後1ヶ月間サポート継続
アーカイブ動画でいつでも復習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2E1A"/>
                </a:solidFill>
                <a:latin typeface="Hiragino Kaku Gothic ProN"/>
              </a:rPr>
              <a:t>「分からなくても大丈夫」という環境を作っています。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2E1A"/>
                </a:solidFill>
                <a:latin typeface="Hiragino Kaku Gothic ProN"/>
              </a:rPr>
              <a:t>7日後、こんなことができるようになります</a:t>
            </a:r>
          </a:p>
        </p:txBody>
      </p:sp>
      <p:pic>
        <p:nvPicPr>
          <p:cNvPr id="5" name="Picture 4" descr="actionmap-kensakujidoka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3657600" cy="205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3063240"/>
            <a:ext cx="3657600" cy="50292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0906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Kaku Gothic ProN"/>
              </a:rPr>
              <a:t>案件探索 自動化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57600"/>
            <a:ext cx="3657600" cy="201168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  <a:latin typeface="Hiragino Kaku Gothic ProN"/>
              </a:rPr>
              <a:t>仕事探しに
時間をかけなくていい</a:t>
            </a:r>
          </a:p>
        </p:txBody>
      </p:sp>
      <p:pic>
        <p:nvPicPr>
          <p:cNvPr id="10" name="Picture 9" descr="actionmap-slide-seisaku-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914400"/>
            <a:ext cx="3657600" cy="2057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07407" y="3063240"/>
            <a:ext cx="3657600" cy="50292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7" y="30906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Kaku Gothic ProN"/>
              </a:rPr>
              <a:t>スライド 制作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7" y="3657600"/>
            <a:ext cx="3657600" cy="201168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7" y="3794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  <a:latin typeface="Hiragino Kaku Gothic ProN"/>
              </a:rPr>
              <a:t>毎回ゼロから
作る必要がなくなる</a:t>
            </a:r>
          </a:p>
        </p:txBody>
      </p:sp>
      <p:pic>
        <p:nvPicPr>
          <p:cNvPr id="15" name="Picture 14" descr="actionmap-system-kaihatsu-normaliz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4" y="914400"/>
            <a:ext cx="3657600" cy="2057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311894" y="3063240"/>
            <a:ext cx="3657600" cy="50292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4" y="30906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Kaku Gothic ProN"/>
              </a:rPr>
              <a:t>システム 開発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11894" y="3657600"/>
            <a:ext cx="3657600" cy="201168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4" y="3794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  <a:latin typeface="Hiragino Kaku Gothic ProN"/>
              </a:rPr>
              <a:t>業務改善ツールを
自分で作れる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A06E"/>
                </a:solidFill>
                <a:latin typeface="Hiragino Kaku Gothic ProN"/>
              </a:rPr>
              <a:t>1期生の声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69848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779977"/>
                </a:solidFill>
                <a:latin typeface="Hiragino Kaku Gothic ProN"/>
              </a:rPr>
              <a:t>完全未経験から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AA06E"/>
                </a:solidFill>
                <a:latin typeface="Hiragino Kaku Gothic ProN"/>
              </a:rPr>
              <a:t>7日でシステムを完成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779977"/>
                </a:solidFill>
                <a:latin typeface="Hiragino Kaku Gothic ProN"/>
              </a:rPr>
              <a:t>させた受講生がいます。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941832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2E1A"/>
                </a:solidFill>
                <a:latin typeface="Hiragino Kaku Gothic ProN"/>
              </a:rPr>
              <a:t>LP制作・SNS自動化・業務効率化など、各自が実際に動くシステムを完成させました。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A06E"/>
                </a:solidFill>
                <a:latin typeface="Hiragino Kaku Gothic ProN"/>
              </a:rPr>
              <a:t>あなたの「初めての作品」を一緒に作りましょう。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79977"/>
                </a:solidFill>
                <a:latin typeface="Hiragino Kaku Gothic ProN"/>
              </a:rPr>
              <a:t>料金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1A2E1A"/>
                </a:solidFill>
                <a:latin typeface="Hiragino Kaku Gothic ProN"/>
              </a:rPr>
              <a:t>198,000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779977"/>
                </a:solidFill>
                <a:latin typeface="Hiragino Kaku Gothic ProN"/>
              </a:rPr>
              <a:t>円（税抜）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4572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779977"/>
                </a:solidFill>
                <a:latin typeface="Hiragino Kaku Gothic ProN"/>
              </a:rPr>
              <a:t>1日あたりたったの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9319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AA06E"/>
                </a:solidFill>
                <a:latin typeface="Hiragino Kaku Gothic ProN"/>
              </a:rPr>
              <a:t>251円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7A45"/>
                </a:solidFill>
                <a:latin typeface="Hiragino Kaku Gothic ProN"/>
              </a:rPr>
              <a:t>コンビニのランチより安い。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79977"/>
                </a:solidFill>
                <a:latin typeface="Hiragino Kaku Gothic ProN"/>
              </a:rPr>
              <a:t>クレジット分割：月々約 7,532円〜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779977"/>
                </a:solidFill>
                <a:latin typeface="Hiragino Kaku Gothic ProN"/>
              </a:rPr>
              <a:t>「分からない」を卒業する、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1AA06E"/>
                </a:solidFill>
                <a:latin typeface="Hiragino Kaku Gothic ProN"/>
              </a:rPr>
              <a:t>最初の7日間です。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49039"/>
            <a:ext cx="941832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2E1A"/>
                </a:solidFill>
                <a:latin typeface="Hiragino Kaku Gothic ProN"/>
              </a:rPr>
              <a:t>AIが得意な人だけが得をする時代が、もうすぐそこまで来ています。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A06E"/>
                </a:solidFill>
                <a:latin typeface="Hiragino Kaku Gothic ProN"/>
              </a:rPr>
              <a:t>最初の一歩を、一人でなく一緒に踏み出しましょう。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779977"/>
                </a:solidFill>
                <a:latin typeface="Hiragino Kaku Gothic ProN"/>
              </a:rPr>
              <a:t>まずやってみることが、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AA06E"/>
                </a:solidFill>
                <a:latin typeface="Hiragino Kaku Gothic ProN"/>
              </a:rPr>
              <a:t>一番の近道です。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941832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  <a:latin typeface="Hiragino Kaku Gothic ProN"/>
              </a:rPr>
              <a:t>本質のClaude Code 完全攻略 7dayブートキャンプ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749039"/>
            <a:ext cx="8503920" cy="13716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14223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Hiragino Kaku Gothic ProN"/>
              </a:rPr>
              <a:t>申し込んでみる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79977"/>
                </a:solidFill>
                <a:latin typeface="Hiragino Kaku Gothic ProN"/>
              </a:rPr>
              <a:t>198,000円（税抜）　月々 7,532円〜　質問し放題・補講あり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
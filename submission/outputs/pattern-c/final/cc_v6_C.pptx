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ヒラギノ角ゴシック"/>
        <a:buChar char="•"/>
        <a:defRPr sz="32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1pPr>
      <a:lvl2pPr marL="742950" indent="-285750" algn="l" defTabSz="457200" rtl="0" eaLnBrk="1" latinLnBrk="0" hangingPunct="1">
        <a:spcBef>
          <a:spcPct val="20000"/>
        </a:spcBef>
        <a:buFont typeface="ヒラギノ角ゴシック"/>
        <a:buChar char="–"/>
        <a:defRPr sz="2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2pPr>
      <a:lvl3pPr marL="1143000" indent="-228600" algn="l" defTabSz="457200" rtl="0" eaLnBrk="1" latinLnBrk="0" hangingPunct="1">
        <a:spcBef>
          <a:spcPct val="20000"/>
        </a:spcBef>
        <a:buFont typeface="ヒラギノ角ゴシック"/>
        <a:buChar char="•"/>
        <a:defRPr sz="24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3pPr>
      <a:lvl4pPr marL="1600200" indent="-228600" algn="l" defTabSz="457200" rtl="0" eaLnBrk="1" latinLnBrk="0" hangingPunct="1">
        <a:spcBef>
          <a:spcPct val="20000"/>
        </a:spcBef>
        <a:buFont typeface="ヒラギノ角ゴシック"/>
        <a:buChar char="–"/>
        <a:defRPr sz="20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4pPr>
      <a:lvl5pPr marL="2057400" indent="-228600" algn="l" defTabSz="457200" rtl="0" eaLnBrk="1" latinLnBrk="0" hangingPunct="1">
        <a:spcBef>
          <a:spcPct val="20000"/>
        </a:spcBef>
        <a:buFont typeface="ヒラギノ角ゴシック"/>
        <a:buChar char="»"/>
        <a:defRPr sz="20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5pPr>
      <a:lvl6pPr marL="2514600" indent="-228600" algn="l" defTabSz="457200" rtl="0" eaLnBrk="1" latinLnBrk="0" hangingPunct="1">
        <a:spcBef>
          <a:spcPct val="20000"/>
        </a:spcBef>
        <a:buFont typeface="ヒラギノ角ゴシック"/>
        <a:buChar char="•"/>
        <a:defRPr sz="20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6pPr>
      <a:lvl7pPr marL="2971800" indent="-228600" algn="l" defTabSz="457200" rtl="0" eaLnBrk="1" latinLnBrk="0" hangingPunct="1">
        <a:spcBef>
          <a:spcPct val="20000"/>
        </a:spcBef>
        <a:buFont typeface="ヒラギノ角ゴシック"/>
        <a:buChar char="•"/>
        <a:defRPr sz="20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7pPr>
      <a:lvl8pPr marL="3429000" indent="-228600" algn="l" defTabSz="457200" rtl="0" eaLnBrk="1" latinLnBrk="0" hangingPunct="1">
        <a:spcBef>
          <a:spcPct val="20000"/>
        </a:spcBef>
        <a:buFont typeface="ヒラギノ角ゴシック"/>
        <a:buChar char="•"/>
        <a:defRPr sz="20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8pPr>
      <a:lvl9pPr marL="3886200" indent="-228600" algn="l" defTabSz="457200" rtl="0" eaLnBrk="1" latinLnBrk="0" hangingPunct="1">
        <a:spcBef>
          <a:spcPct val="20000"/>
        </a:spcBef>
        <a:buFont typeface="ヒラギノ角ゴシック"/>
        <a:buChar char="•"/>
        <a:defRPr sz="20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1A2E1A"/>
                </a:solidFill>
                <a:latin typeface="ヒラギノ角ゴシック"/>
                <a:ea typeface="ヒラギノ角ゴシック"/>
                <a:cs typeface="ヒラギノ角ゴシック"/>
              </a:rPr>
              <a:t>プログラミングは、いりません。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468880"/>
            <a:ext cx="8503920" cy="54864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1AA06E"/>
                </a:solidFill>
                <a:latin typeface="ヒラギノ角ゴシック"/>
                <a:ea typeface="ヒラギノ角ゴシック"/>
                <a:cs typeface="ヒラギノ角ゴシック"/>
              </a:rPr>
              <a:t>日本語で話しかけるだけで動く。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779977"/>
                </a:solidFill>
                <a:latin typeface="ヒラギノ角ゴシック"/>
                <a:ea typeface="ヒラギノ角ゴシック"/>
                <a:cs typeface="ヒラギノ角ゴシック"/>
              </a:rPr>
              <a:t>本質のClaude Code 完全攻略 7dayブートキャンプ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17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779977"/>
                </a:solidFill>
                <a:latin typeface="ヒラギノ角ゴシック"/>
                <a:ea typeface="ヒラギノ角ゴシック"/>
                <a:cs typeface="ヒラギノ角ゴシック"/>
              </a:rPr>
              <a:t>アドネス株式会社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2E1A"/>
                </a:solidFill>
                <a:latin typeface="ヒラギノ角ゴシック"/>
                <a:ea typeface="ヒラギノ角ゴシック"/>
                <a:cs typeface="ヒラギノ角ゴシック"/>
              </a:rPr>
              <a:t>こんな気持ち、ありませんか？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64240" cy="960120"/>
          </a:xfrm>
          <a:prstGeom prst="rect">
            <a:avLst/>
          </a:prstGeom>
          <a:solidFill>
            <a:srgbClr val="E8F8F0"/>
          </a:solidFill>
          <a:ln w="12700">
            <a:solidFill>
              <a:srgbClr val="88D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2E1A"/>
                </a:solidFill>
                <a:latin typeface="ヒラギノ角ゴシック"/>
                <a:ea typeface="ヒラギノ角ゴシック"/>
                <a:cs typeface="ヒラギノ角ゴシック"/>
              </a:rPr>
              <a:t>「毎回同じ作業、なんか時間もったいないな」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11064240" cy="960120"/>
          </a:xfrm>
          <a:prstGeom prst="rect">
            <a:avLst/>
          </a:prstGeom>
          <a:solidFill>
            <a:srgbClr val="E8F8F0"/>
          </a:solidFill>
          <a:ln w="12700">
            <a:solidFill>
              <a:srgbClr val="88D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2E1A"/>
                </a:solidFill>
                <a:latin typeface="ヒラギノ角ゴシック"/>
                <a:ea typeface="ヒラギノ角ゴシック"/>
                <a:cs typeface="ヒラギノ角ゴシック"/>
              </a:rPr>
              <a:t>「AIって難しそう…自分には無理かも」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57600"/>
            <a:ext cx="11064240" cy="960120"/>
          </a:xfrm>
          <a:prstGeom prst="rect">
            <a:avLst/>
          </a:prstGeom>
          <a:solidFill>
            <a:srgbClr val="E8F8F0"/>
          </a:solidFill>
          <a:ln w="12700">
            <a:solidFill>
              <a:srgbClr val="88D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947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2E1A"/>
                </a:solidFill>
                <a:latin typeface="ヒラギノ角ゴシック"/>
                <a:ea typeface="ヒラギノ角ゴシック"/>
                <a:cs typeface="ヒラギノ角ゴシック"/>
              </a:rPr>
              <a:t>「副業してみたいけど、何のスキルを身につければいいか分からない」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846320"/>
            <a:ext cx="11064240" cy="960120"/>
          </a:xfrm>
          <a:prstGeom prst="rect">
            <a:avLst/>
          </a:prstGeom>
          <a:solidFill>
            <a:srgbClr val="E8F8F0"/>
          </a:solidFill>
          <a:ln w="12700">
            <a:solidFill>
              <a:srgbClr val="88D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9834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2E1A"/>
                </a:solidFill>
                <a:latin typeface="ヒラギノ角ゴシック"/>
                <a:ea typeface="ヒラギノ角ゴシック"/>
                <a:cs typeface="ヒラギノ角ゴシック"/>
              </a:rPr>
              <a:t>「プログラミングは絶対無理。でもAIは気になる」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126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A06E"/>
                </a:solidFill>
                <a:latin typeface="ヒラギノ角ゴシック"/>
                <a:ea typeface="ヒラギノ角ゴシック"/>
                <a:cs typeface="ヒラギノ角ゴシック"/>
              </a:rPr>
              <a:t>その感覚、全部正解です。だから、このブートキャンプがあります。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779977"/>
                </a:solidFill>
                <a:latin typeface="ヒラギノ角ゴシック"/>
                <a:ea typeface="ヒラギノ角ゴシック"/>
                <a:cs typeface="ヒラギノ角ゴシック"/>
              </a:rPr>
              <a:t>Claude Codeは、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AA06E"/>
                </a:solidFill>
                <a:latin typeface="ヒラギノ角ゴシック"/>
                <a:ea typeface="ヒラギノ角ゴシック"/>
                <a:cs typeface="ヒラギノ角ゴシック"/>
              </a:rPr>
              <a:t>日本語で話しかけるだけで動きます。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514600"/>
            <a:ext cx="9418320" cy="45720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54864" cy="822960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A06E"/>
                </a:solidFill>
                <a:latin typeface="ヒラギノ角ゴシック"/>
                <a:ea typeface="ヒラギノ角ゴシック"/>
                <a:cs typeface="ヒラギノ角ゴシック"/>
              </a:rPr>
              <a:t>プログラミング不要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2E1A"/>
                </a:solidFill>
                <a:latin typeface="ヒラギノ角ゴシック"/>
                <a:ea typeface="ヒラギノ角ゴシック"/>
                <a:cs typeface="ヒラギノ角ゴシック"/>
              </a:rPr>
              <a:t>日本語で指示するだけ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31920"/>
            <a:ext cx="54864" cy="822960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A06E"/>
                </a:solidFill>
                <a:latin typeface="ヒラギノ角ゴシック"/>
                <a:ea typeface="ヒラギノ角ゴシック"/>
                <a:cs typeface="ヒラギノ角ゴシック"/>
              </a:rPr>
              <a:t>副業に直結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89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2E1A"/>
                </a:solidFill>
                <a:latin typeface="ヒラギノ角ゴシック"/>
                <a:ea typeface="ヒラギノ角ゴシック"/>
                <a:cs typeface="ヒラギノ角ゴシック"/>
              </a:rPr>
              <a:t>案件探索・LP制作・資料作成を自動化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120640"/>
            <a:ext cx="54864" cy="822960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1206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A06E"/>
                </a:solidFill>
                <a:latin typeface="ヒラギノ角ゴシック"/>
                <a:ea typeface="ヒラギノ角ゴシック"/>
                <a:cs typeface="ヒラギノ角ゴシック"/>
              </a:rPr>
              <a:t>未経験OK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577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2E1A"/>
                </a:solidFill>
                <a:latin typeface="ヒラギノ角ゴシック"/>
                <a:ea typeface="ヒラギノ角ゴシック"/>
                <a:cs typeface="ヒラギノ角ゴシック"/>
              </a:rPr>
              <a:t>1期生は7日でシステムを完成させた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79977"/>
                </a:solidFill>
                <a:latin typeface="ヒラギノ角ゴシック"/>
                <a:ea typeface="ヒラギノ角ゴシック"/>
                <a:cs typeface="ヒラギノ角ゴシック"/>
              </a:rPr>
              <a:t>INSTRUCTOR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1AA06E"/>
                </a:solidFill>
                <a:latin typeface="ヒラギノ角ゴシック"/>
                <a:ea typeface="ヒラギノ角ゴシック"/>
                <a:cs typeface="ヒラギノ角ゴシック"/>
              </a:rPr>
              <a:t>みかみ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779977"/>
                </a:solidFill>
                <a:latin typeface="ヒラギノ角ゴシック"/>
                <a:ea typeface="ヒラギノ角ゴシック"/>
                <a:cs typeface="ヒラギノ角ゴシック"/>
              </a:rPr>
              <a:t>アドネス株式会社　代表取締役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7498079" cy="45720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457200" cy="457200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95044" y="265176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2E1A"/>
                </a:solidFill>
                <a:latin typeface="ヒラギノ角ゴシック"/>
                <a:ea typeface="ヒラギノ角ゴシック"/>
                <a:cs typeface="ヒラギノ角ゴシック"/>
              </a:rPr>
              <a:t>受講生6,000名以上「スキルプラス」を運営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457200" cy="457200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95044" y="356616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2E1A"/>
                </a:solidFill>
                <a:latin typeface="ヒラギノ角ゴシック"/>
                <a:ea typeface="ヒラギノ角ゴシック"/>
                <a:cs typeface="ヒラギノ角ゴシック"/>
              </a:rPr>
              <a:t>AIで月商5億円を達成（本物の実績）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480560"/>
            <a:ext cx="457200" cy="457200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95044" y="448056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2E1A"/>
                </a:solidFill>
                <a:latin typeface="ヒラギノ角ゴシック"/>
                <a:ea typeface="ヒラギノ角ゴシック"/>
                <a:cs typeface="ヒラギノ角ゴシック"/>
              </a:rPr>
              <a:t>東大在学中に起業・創業5年で年商30億円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394960"/>
            <a:ext cx="457200" cy="457200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9496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2E1A"/>
                </a:solidFill>
                <a:latin typeface="ヒラギノ角ゴシック"/>
                <a:ea typeface="ヒラギノ角ゴシック"/>
                <a:cs typeface="ヒラギノ角ゴシック"/>
              </a:rPr>
              <a:t>「現役で稼いでいる人間が教える」を徹底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502920"/>
            <a:ext cx="2743200" cy="2743200"/>
          </a:xfrm>
          <a:prstGeom prst="roundRect">
            <a:avLst/>
          </a:prstGeom>
          <a:solidFill>
            <a:srgbClr val="E8F8F0"/>
          </a:solidFill>
          <a:ln w="19050">
            <a:solidFill>
              <a:srgbClr val="88D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168128" y="996696"/>
            <a:ext cx="877824" cy="877824"/>
          </a:xfrm>
          <a:prstGeom prst="ellipse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537192" y="2011680"/>
            <a:ext cx="2139696" cy="1152144"/>
          </a:xfrm>
          <a:prstGeom prst="ellipse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79977"/>
                </a:solidFill>
                <a:latin typeface="ヒラギノ角ゴシック"/>
                <a:ea typeface="ヒラギノ角ゴシック"/>
                <a:cs typeface="ヒラギノ角ゴシック"/>
              </a:rPr>
              <a:t>INSTRUCTOR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1AA06E"/>
                </a:solidFill>
                <a:latin typeface="ヒラギノ角ゴシック"/>
                <a:ea typeface="ヒラギノ角ゴシック"/>
                <a:cs typeface="ヒラギノ角ゴシック"/>
              </a:rPr>
              <a:t>佐藤将司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779977"/>
                </a:solidFill>
                <a:latin typeface="ヒラギノ角ゴシック"/>
                <a:ea typeface="ヒラギノ角ゴシック"/>
                <a:cs typeface="ヒラギノ角ゴシック"/>
              </a:rPr>
              <a:t>アドネス株式会社　AI事業責任者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7498079" cy="45720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A06E"/>
                </a:solidFill>
                <a:latin typeface="ヒラギノ角ゴシック"/>
                <a:ea typeface="ヒラギノ角ゴシック"/>
                <a:cs typeface="ヒラギノ角ゴシック"/>
              </a:rPr>
              <a:t>プログラミング経験ゼロからスタートした人が教えます。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779977"/>
                </a:solidFill>
                <a:latin typeface="ヒラギノ角ゴシック"/>
                <a:ea typeface="ヒラギノ角ゴシック"/>
                <a:cs typeface="ヒラギノ角ゴシック"/>
              </a:rPr>
              <a:t>元・公務員（月給12万円）／プログラミング経験ゼロ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A2E1A"/>
                </a:solidFill>
                <a:latin typeface="ヒラギノ角ゴシック"/>
                <a:ea typeface="ヒラギノ角ゴシック"/>
                <a:cs typeface="ヒラギノ角ゴシック"/>
              </a:rPr>
              <a:t>↓　Claude Codeで100以上のシステムを構築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AA06E"/>
                </a:solidFill>
                <a:latin typeface="ヒラギノ角ゴシック"/>
                <a:ea typeface="ヒラギノ角ゴシック"/>
                <a:cs typeface="ヒラギノ角ゴシック"/>
              </a:rPr>
              <a:t>↓　未経験からAIで稼げるようになった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779977"/>
                </a:solidFill>
                <a:latin typeface="ヒラギノ角ゴシック"/>
                <a:ea typeface="ヒラギノ角ゴシック"/>
                <a:cs typeface="ヒラギノ角ゴシック"/>
              </a:rPr>
              <a:t>→ 「自分でもできるかも」と思えるはずです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502920"/>
            <a:ext cx="2743200" cy="2743200"/>
          </a:xfrm>
          <a:prstGeom prst="roundRect">
            <a:avLst/>
          </a:prstGeom>
          <a:solidFill>
            <a:srgbClr val="E8F8F0"/>
          </a:solidFill>
          <a:ln w="19050">
            <a:solidFill>
              <a:srgbClr val="88D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68128" y="996696"/>
            <a:ext cx="877824" cy="877824"/>
          </a:xfrm>
          <a:prstGeom prst="ellipse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537192" y="2011680"/>
            <a:ext cx="2139696" cy="1152144"/>
          </a:xfrm>
          <a:prstGeom prst="ellipse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1AA06E"/>
                </a:solidFill>
                <a:latin typeface="ヒラギノ角ゴシック"/>
                <a:ea typeface="ヒラギノ角ゴシック"/>
                <a:cs typeface="ヒラギノ角ゴシック"/>
              </a:rPr>
              <a:t>一人にしません。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566160" cy="4114800"/>
          </a:xfrm>
          <a:prstGeom prst="rect">
            <a:avLst/>
          </a:prstGeom>
          <a:solidFill>
            <a:srgbClr val="E8F8F0"/>
          </a:solidFill>
          <a:ln w="25400">
            <a:solidFill>
              <a:srgbClr val="88D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566160" cy="594360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予習期間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1A2E1A"/>
                </a:solidFill>
                <a:latin typeface="ヒラギノ角ゴシック"/>
                <a:ea typeface="ヒラギノ角ゴシック"/>
                <a:cs typeface="ヒラギノ角ゴシック"/>
              </a:rPr>
              <a:t>講義動画を自分のペースで
視聴
コミュニティで質問し放題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566160" cy="4114800"/>
          </a:xfrm>
          <a:prstGeom prst="rect">
            <a:avLst/>
          </a:prstGeom>
          <a:solidFill>
            <a:srgbClr val="E8F8F0"/>
          </a:solidFill>
          <a:ln w="25400">
            <a:solidFill>
              <a:srgbClr val="88D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3566160" cy="594360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48132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ブートキャンプ週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19456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1A2E1A"/>
                </a:solidFill>
                <a:latin typeface="ヒラギノ角ゴシック"/>
                <a:ea typeface="ヒラギノ角ゴシック"/>
                <a:cs typeface="ヒラギノ角ゴシック"/>
              </a:rPr>
              <a:t>週4回・各2時間のオンラインセッション
講師と一緒に手を動かす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463040"/>
            <a:ext cx="3566160" cy="4114800"/>
          </a:xfrm>
          <a:prstGeom prst="rect">
            <a:avLst/>
          </a:prstGeom>
          <a:solidFill>
            <a:srgbClr val="E8F8F0"/>
          </a:solidFill>
          <a:ln w="25400">
            <a:solidFill>
              <a:srgbClr val="88D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463040"/>
            <a:ext cx="3566160" cy="594360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48132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補講期間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9456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1A2E1A"/>
                </a:solidFill>
                <a:latin typeface="ヒラギノ角ゴシック"/>
                <a:ea typeface="ヒラギノ角ゴシック"/>
                <a:cs typeface="ヒラギノ角ゴシック"/>
              </a:rPr>
              <a:t>終了後1ヶ月間サポート継続
アーカイブ動画でいつでも復習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52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2E1A"/>
                </a:solidFill>
                <a:latin typeface="ヒラギノ角ゴシック"/>
                <a:ea typeface="ヒラギノ角ゴシック"/>
                <a:cs typeface="ヒラギノ角ゴシック"/>
              </a:rPr>
              <a:t>「分からなくても大丈夫」という環境を作っています。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2E1A"/>
                </a:solidFill>
                <a:latin typeface="ヒラギノ角ゴシック"/>
                <a:ea typeface="ヒラギノ角ゴシック"/>
                <a:cs typeface="ヒラギノ角ゴシック"/>
              </a:rPr>
              <a:t>7日後、こんなことができるようになります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4846320" cy="45720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3657600" cy="1463040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案件探索
自動化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200400"/>
            <a:ext cx="3657600" cy="2560320"/>
          </a:xfrm>
          <a:prstGeom prst="rect">
            <a:avLst/>
          </a:prstGeom>
          <a:solidFill>
            <a:srgbClr val="E8F8F0"/>
          </a:solidFill>
          <a:ln w="12700">
            <a:solidFill>
              <a:srgbClr val="88D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A2E1A"/>
                </a:solidFill>
                <a:latin typeface="ヒラギノ角ゴシック"/>
                <a:ea typeface="ヒラギノ角ゴシック"/>
                <a:cs typeface="ヒラギノ角ゴシック"/>
              </a:rPr>
              <a:t>仕事探しに
時間をかけなくていい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7407" y="1554480"/>
            <a:ext cx="3657600" cy="1463040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7" y="17830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スライド
制作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7407" y="3200400"/>
            <a:ext cx="3657600" cy="2560320"/>
          </a:xfrm>
          <a:prstGeom prst="rect">
            <a:avLst/>
          </a:prstGeom>
          <a:solidFill>
            <a:srgbClr val="E8F8F0"/>
          </a:solidFill>
          <a:ln w="12700">
            <a:solidFill>
              <a:srgbClr val="88D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7" y="356616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A2E1A"/>
                </a:solidFill>
                <a:latin typeface="ヒラギノ角ゴシック"/>
                <a:ea typeface="ヒラギノ角ゴシック"/>
                <a:cs typeface="ヒラギノ角ゴシック"/>
              </a:rPr>
              <a:t>毎回ゼロから
作る必要がなくなる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11894" y="1554480"/>
            <a:ext cx="3657600" cy="1463040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894" y="17830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システム
開発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11894" y="3200400"/>
            <a:ext cx="3657600" cy="2560320"/>
          </a:xfrm>
          <a:prstGeom prst="rect">
            <a:avLst/>
          </a:prstGeom>
          <a:solidFill>
            <a:srgbClr val="E8F8F0"/>
          </a:solidFill>
          <a:ln w="12700">
            <a:solidFill>
              <a:srgbClr val="88D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49054" y="356616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A2E1A"/>
                </a:solidFill>
                <a:latin typeface="ヒラギノ角ゴシック"/>
                <a:ea typeface="ヒラギノ角ゴシック"/>
                <a:cs typeface="ヒラギノ角ゴシック"/>
              </a:rPr>
              <a:t>業務改善ツールを
自分で作れる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A06E"/>
                </a:solidFill>
                <a:latin typeface="ヒラギノ角ゴシック"/>
                <a:ea typeface="ヒラギノ角ゴシック"/>
                <a:cs typeface="ヒラギノ角ゴシック"/>
              </a:rPr>
              <a:t>1期生の声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698480" cy="45720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779977"/>
                </a:solidFill>
                <a:latin typeface="ヒラギノ角ゴシック"/>
                <a:ea typeface="ヒラギノ角ゴシック"/>
                <a:cs typeface="ヒラギノ角ゴシック"/>
              </a:rPr>
              <a:t>完全未経験から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1AA06E"/>
                </a:solidFill>
                <a:latin typeface="ヒラギノ角ゴシック"/>
                <a:ea typeface="ヒラギノ角ゴシック"/>
                <a:cs typeface="ヒラギノ角ゴシック"/>
              </a:rPr>
              <a:t>7日でシステムを完成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779977"/>
                </a:solidFill>
                <a:latin typeface="ヒラギノ角ゴシック"/>
                <a:ea typeface="ヒラギノ角ゴシック"/>
                <a:cs typeface="ヒラギノ角ゴシック"/>
              </a:rPr>
              <a:t>させた受講生がいます。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023360"/>
            <a:ext cx="9418320" cy="45720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2519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A2E1A"/>
                </a:solidFill>
                <a:latin typeface="ヒラギノ角ゴシック"/>
                <a:ea typeface="ヒラギノ角ゴシック"/>
                <a:cs typeface="ヒラギノ角ゴシック"/>
              </a:rPr>
              <a:t>LP制作・SNS自動化・業務効率化など、各自が実際に動くシステムを完成させました。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A06E"/>
                </a:solidFill>
                <a:latin typeface="ヒラギノ角ゴシック"/>
                <a:ea typeface="ヒラギノ角ゴシック"/>
                <a:cs typeface="ヒラギノ角ゴシック"/>
              </a:rPr>
              <a:t>あなたの「初めての作品」を一緒に作りましょう。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779977"/>
                </a:solidFill>
                <a:latin typeface="ヒラギノ角ゴシック"/>
                <a:ea typeface="ヒラギノ角ゴシック"/>
                <a:cs typeface="ヒラギノ角ゴシック"/>
              </a:rPr>
              <a:t>料金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>
                <a:solidFill>
                  <a:srgbClr val="1A2E1A"/>
                </a:solidFill>
                <a:latin typeface="ヒラギノ角ゴシック"/>
                <a:ea typeface="ヒラギノ角ゴシック"/>
                <a:cs typeface="ヒラギノ角ゴシック"/>
              </a:rPr>
              <a:t>198,000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779977"/>
                </a:solidFill>
                <a:latin typeface="ヒラギノ角ゴシック"/>
                <a:ea typeface="ヒラギノ角ゴシック"/>
                <a:cs typeface="ヒラギノ角ゴシック"/>
              </a:rPr>
              <a:t>円（税抜）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840480"/>
            <a:ext cx="9418320" cy="45720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0233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779977"/>
                </a:solidFill>
                <a:latin typeface="ヒラギノ角ゴシック"/>
                <a:ea typeface="ヒラギノ角ゴシック"/>
                <a:cs typeface="ヒラギノ角ゴシック"/>
              </a:rPr>
              <a:t>1日あたりたったの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3931920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1AA06E"/>
                </a:solidFill>
                <a:latin typeface="ヒラギノ角ゴシック"/>
                <a:ea typeface="ヒラギノ角ゴシック"/>
                <a:cs typeface="ヒラギノ角ゴシック"/>
              </a:rPr>
              <a:t>251円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7A45"/>
                </a:solidFill>
                <a:latin typeface="ヒラギノ角ゴシック"/>
                <a:ea typeface="ヒラギノ角ゴシック"/>
                <a:cs typeface="ヒラギノ角ゴシック"/>
              </a:rPr>
              <a:t>コンビニのランチより安い。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5778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779977"/>
                </a:solidFill>
                <a:latin typeface="ヒラギノ角ゴシック"/>
                <a:ea typeface="ヒラギノ角ゴシック"/>
                <a:cs typeface="ヒラギノ角ゴシック"/>
              </a:rPr>
              <a:t>クレジット分割：月々約 7,532円〜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779977"/>
                </a:solidFill>
                <a:latin typeface="ヒラギノ角ゴシック"/>
                <a:ea typeface="ヒラギノ角ゴシック"/>
                <a:cs typeface="ヒラギノ角ゴシック"/>
              </a:rPr>
              <a:t>「分からない」を卒業する、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1AA06E"/>
                </a:solidFill>
                <a:latin typeface="ヒラギノ角ゴシック"/>
                <a:ea typeface="ヒラギノ角ゴシック"/>
                <a:cs typeface="ヒラギノ角ゴシック"/>
              </a:rPr>
              <a:t>最初の7日間です。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749039"/>
            <a:ext cx="9418320" cy="45720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977639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A2E1A"/>
                </a:solidFill>
                <a:latin typeface="ヒラギノ角ゴシック"/>
                <a:ea typeface="ヒラギノ角ゴシック"/>
                <a:cs typeface="ヒラギノ角ゴシック"/>
              </a:rPr>
              <a:t>AIが得意な人だけが得をする時代が、もうすぐそこまで来ています。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A06E"/>
                </a:solidFill>
                <a:latin typeface="ヒラギノ角ゴシック"/>
                <a:ea typeface="ヒラギノ角ゴシック"/>
                <a:cs typeface="ヒラギノ角ゴシック"/>
              </a:rPr>
              <a:t>最初の一歩を、一人でなく一緒に踏み出しましょう。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779977"/>
                </a:solidFill>
                <a:latin typeface="ヒラギノ角ゴシック"/>
                <a:ea typeface="ヒラギノ角ゴシック"/>
                <a:cs typeface="ヒラギノ角ゴシック"/>
              </a:rPr>
              <a:t>まずやってみることが、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1AA06E"/>
                </a:solidFill>
                <a:latin typeface="ヒラギノ角ゴシック"/>
                <a:ea typeface="ヒラギノ角ゴシック"/>
                <a:cs typeface="ヒラギノ角ゴシック"/>
              </a:rPr>
              <a:t>一番の近道です。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743200"/>
            <a:ext cx="9418320" cy="45720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2E1A"/>
                </a:solidFill>
                <a:latin typeface="ヒラギノ角ゴシック"/>
                <a:ea typeface="ヒラギノ角ゴシック"/>
                <a:cs typeface="ヒラギノ角ゴシック"/>
              </a:rPr>
              <a:t>本質のClaude Code 完全攻略 7dayブートキャンプ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3749039"/>
            <a:ext cx="8503920" cy="1371600"/>
          </a:xfrm>
          <a:prstGeom prst="rect">
            <a:avLst/>
          </a:prstGeom>
          <a:solidFill>
            <a:srgbClr val="1A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142232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申し込んでみる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949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779977"/>
                </a:solidFill>
                <a:latin typeface="ヒラギノ角ゴシック"/>
                <a:ea typeface="ヒラギノ角ゴシック"/>
                <a:cs typeface="ヒラギノ角ゴシック"/>
              </a:rPr>
              <a:t>198,000円（税抜）　月々 7,532円〜　質問し放題・補講あり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ヒラギノ角ゴシック"/>
        <a:ea typeface="ヒラギノ角ゴシック"/>
        <a:cs typeface="ヒラギノ角ゴシック"/>
        <a:font script="Jpan" typeface="ヒラギノ角ゴシック"/>
        <a:font script="Hang" typeface="ヒラギノ角ゴシック"/>
        <a:font script="Hans" typeface="ヒラギノ角ゴシック"/>
        <a:font script="Hant" typeface="ヒラギノ角ゴシック"/>
        <a:font script="Arab" typeface="ヒラギノ角ゴシック"/>
        <a:font script="Hebr" typeface="ヒラギノ角ゴシック"/>
        <a:font script="Thai" typeface="ヒラギノ角ゴシック"/>
        <a:font script="Ethi" typeface="ヒラギノ角ゴシック"/>
        <a:font script="Beng" typeface="ヒラギノ角ゴシック"/>
        <a:font script="Gujr" typeface="ヒラギノ角ゴシック"/>
        <a:font script="Khmr" typeface="ヒラギノ角ゴシック"/>
        <a:font script="Knda" typeface="ヒラギノ角ゴシック"/>
        <a:font script="Guru" typeface="ヒラギノ角ゴシック"/>
        <a:font script="Cans" typeface="ヒラギノ角ゴシック"/>
        <a:font script="Cher" typeface="ヒラギノ角ゴシック"/>
        <a:font script="Yiii" typeface="ヒラギノ角ゴシック"/>
        <a:font script="Tibt" typeface="ヒラギノ角ゴシック"/>
        <a:font script="Thaa" typeface="ヒラギノ角ゴシック"/>
        <a:font script="Deva" typeface="ヒラギノ角ゴシック"/>
        <a:font script="Telu" typeface="ヒラギノ角ゴシック"/>
        <a:font script="Taml" typeface="ヒラギノ角ゴシック"/>
        <a:font script="Syrc" typeface="ヒラギノ角ゴシック"/>
        <a:font script="Orya" typeface="ヒラギノ角ゴシック"/>
        <a:font script="Mlym" typeface="ヒラギノ角ゴシック"/>
        <a:font script="Laoo" typeface="ヒラギノ角ゴシック"/>
        <a:font script="Sinh" typeface="ヒラギノ角ゴシック"/>
        <a:font script="Mong" typeface="ヒラギノ角ゴシック"/>
        <a:font script="Viet" typeface="ヒラギノ角ゴシック"/>
        <a:font script="Uigh" typeface="ヒラギノ角ゴシック"/>
        <a:font script="Geor" typeface="ヒラギノ角ゴシック"/>
      </a:majorFont>
      <a:minorFont>
        <a:latin typeface="ヒラギノ角ゴシック"/>
        <a:ea typeface="ヒラギノ角ゴシック"/>
        <a:cs typeface="ヒラギノ角ゴシック"/>
        <a:font script="Jpan" typeface="ヒラギノ角ゴシック"/>
        <a:font script="Hang" typeface="ヒラギノ角ゴシック"/>
        <a:font script="Hans" typeface="ヒラギノ角ゴシック"/>
        <a:font script="Hant" typeface="ヒラギノ角ゴシック"/>
        <a:font script="Arab" typeface="ヒラギノ角ゴシック"/>
        <a:font script="Hebr" typeface="ヒラギノ角ゴシック"/>
        <a:font script="Thai" typeface="ヒラギノ角ゴシック"/>
        <a:font script="Ethi" typeface="ヒラギノ角ゴシック"/>
        <a:font script="Beng" typeface="ヒラギノ角ゴシック"/>
        <a:font script="Gujr" typeface="ヒラギノ角ゴシック"/>
        <a:font script="Khmr" typeface="ヒラギノ角ゴシック"/>
        <a:font script="Knda" typeface="ヒラギノ角ゴシック"/>
        <a:font script="Guru" typeface="ヒラギノ角ゴシック"/>
        <a:font script="Cans" typeface="ヒラギノ角ゴシック"/>
        <a:font script="Cher" typeface="ヒラギノ角ゴシック"/>
        <a:font script="Yiii" typeface="ヒラギノ角ゴシック"/>
        <a:font script="Tibt" typeface="ヒラギノ角ゴシック"/>
        <a:font script="Thaa" typeface="ヒラギノ角ゴシック"/>
        <a:font script="Deva" typeface="ヒラギノ角ゴシック"/>
        <a:font script="Telu" typeface="ヒラギノ角ゴシック"/>
        <a:font script="Taml" typeface="ヒラギノ角ゴシック"/>
        <a:font script="Syrc" typeface="ヒラギノ角ゴシック"/>
        <a:font script="Orya" typeface="ヒラギノ角ゴシック"/>
        <a:font script="Mlym" typeface="ヒラギノ角ゴシック"/>
        <a:font script="Laoo" typeface="ヒラギノ角ゴシック"/>
        <a:font script="Sinh" typeface="ヒラギノ角ゴシック"/>
        <a:font script="Mong" typeface="ヒラギノ角ゴシック"/>
        <a:font script="Viet" typeface="ヒラギノ角ゴシック"/>
        <a:font script="Uigh" typeface="ヒラギノ角ゴシック"/>
        <a:font script="Geor" typeface="ヒラギノ角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